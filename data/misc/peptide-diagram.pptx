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74"/>
    <p:restoredTop sz="94599"/>
  </p:normalViewPr>
  <p:slideViewPr>
    <p:cSldViewPr snapToGrid="0" snapToObjects="1">
      <p:cViewPr>
        <p:scale>
          <a:sx n="132" d="100"/>
          <a:sy n="132" d="100"/>
        </p:scale>
        <p:origin x="528" y="-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B1D05-3373-D242-9904-45919FA2C0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A682A7-D895-554D-9F8A-54E4D762F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71DE51-375F-ABC6-571C-A6256A118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0A8ED6-8F3A-5047-A56D-59AE5F8B1FE1}" type="datetimeFigureOut">
              <a:rPr lang="en-US"/>
              <a:pPr>
                <a:defRPr/>
              </a:pPr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A896A-33FC-E83D-7188-F37756FAE7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4AFF1-1000-6557-EDB4-2735B4305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21D31C3-9D2E-EB47-A389-B79D6FDEFC42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245256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B171E-FA1B-574C-BCC5-1EC18543C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52D29-21F0-A446-A9EE-F359AFDAA8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795F2-87D7-752C-382D-8E8F5971E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7D6263-4E5E-BB48-81EA-1E0EE0F05B41}" type="datetimeFigureOut">
              <a:rPr lang="en-US"/>
              <a:pPr>
                <a:defRPr/>
              </a:pPr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32095A-C387-8233-84A4-3D5A23848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10977D-A6A3-3EF4-AEF7-4BC9E264D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51BA602-31B1-B341-ADD1-2E3E3F4A8F0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92528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9A642-1755-A949-9BCD-3F9A03698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AD23CE-4A31-0146-9A65-8D989E8DB8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A5B841-5BE5-0F43-9BC2-89EC99D32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6DA5A86-A8A6-9345-9457-0A776D316486}" type="datetimeFigureOut">
              <a:rPr lang="en-US"/>
              <a:pPr>
                <a:defRPr/>
              </a:pPr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EDC8B5-7D87-5691-7246-E23398249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653C89-2655-F123-707D-C1882C280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8382A8E-737A-9247-B6F2-1BCFA8B8295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482685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077D0-6A41-FE41-B32C-1128227EE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11814-A807-0A49-BC92-DBEDCDFD07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E6038A-AAFC-004E-BC8D-7E9841CF00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076DE573-922A-8DF4-7238-58CEC66A4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6A956FC-9DD2-D44E-9ACA-DE486A452674}" type="datetimeFigureOut">
              <a:rPr lang="en-US"/>
              <a:pPr>
                <a:defRPr/>
              </a:pPr>
              <a:t>3/24/26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223EA96B-6CE0-7374-D1E4-22C37DFA3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639E367D-1C94-1FDC-6C73-FD723F9E5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0218755-2955-C342-8EBF-80018C566AAA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41875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8D3D8-5323-A64E-B59F-29EC69811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232F94-8D66-4343-A5CA-301A7A2434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ADCED4-6371-FE4E-9509-09C58D37FE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8DC9FB-151F-394E-9791-B69BFC6659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3DE734-A9C0-C944-BD1C-81C4F8E5C3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164DC01-611E-7309-30F7-F94A09E8F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EB7BA0-AB89-6F40-9598-E1DDE50A6BCA}" type="datetimeFigureOut">
              <a:rPr lang="en-US"/>
              <a:pPr>
                <a:defRPr/>
              </a:pPr>
              <a:t>3/24/26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78F533A-3014-F641-1AFF-CE5BB59CF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0C02853-8BF8-D50B-1B88-FE904443E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8BE2C86-3225-EE4B-B093-338F562553C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149973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CB576-CDA9-D44A-9C03-D37B80580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56CE9846-3362-42CA-35F2-D6A1BD756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53B1E8-192A-E948-8BC9-DDCE199C6D51}" type="datetimeFigureOut">
              <a:rPr lang="en-US"/>
              <a:pPr>
                <a:defRPr/>
              </a:pPr>
              <a:t>3/24/26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E381D54-96A9-0511-CFE6-B8B5F6636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5F3F677-3055-1E37-0B68-CC71B08C2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92E010B-7DF7-5040-AB7F-F80B0C9C9B7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67323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9DE0BA94-8E87-75A4-1389-92ABE998D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366E15-FC48-FD4A-A954-128992B10F1C}" type="datetimeFigureOut">
              <a:rPr lang="en-US"/>
              <a:pPr>
                <a:defRPr/>
              </a:pPr>
              <a:t>3/24/26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847B5C20-0BCA-F618-F38D-D8B914A7E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F086A81-0148-957C-4617-41D5AE111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A678B50-70F4-604F-9669-F203B47CB03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570593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C701D-3B97-9446-AA09-EACACBE0F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33DB36-3AB4-DF4C-B135-77E4B76C3A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13A562-11A6-914B-9DA8-E81E7A2852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3826F78-6F2E-E762-C716-5486FDD5B0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D8E7471-5AD2-384B-AFD6-257AD5429DFA}" type="datetimeFigureOut">
              <a:rPr lang="en-US"/>
              <a:pPr>
                <a:defRPr/>
              </a:pPr>
              <a:t>3/24/26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D3EEA747-6F0D-2AD0-0576-579BACB4F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AEFF8AE-84BF-AD31-4BDF-D0CCF99CC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4A961C4-5FDF-F84E-BED9-203541A0626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899779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16513-47E3-1C42-A237-5F04D308F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BDECD9-B503-2E45-B5FE-8B9E676AAE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5CF01B-2672-3947-BDAE-586DEC71C0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1FFA555F-2616-CD0D-6467-FB0908E1C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1FA68E-01EE-534A-A5FF-C1D8A9764671}" type="datetimeFigureOut">
              <a:rPr lang="en-US"/>
              <a:pPr>
                <a:defRPr/>
              </a:pPr>
              <a:t>3/24/26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9A09AD7-EB69-2226-77AA-48BA8441F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3DA1E61-67BD-757C-26CC-C428F7625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744B23D-E842-3343-8EAF-5A9CF91774C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234924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8AE0-D38C-6D4D-8E46-6AAAAA82E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0CE7F8-1A0A-144F-9177-625BF85F33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CA22C6-E1DC-95CC-8A4E-788678E2B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A68F34-19F5-7A4E-9803-12043955D3BE}" type="datetimeFigureOut">
              <a:rPr lang="en-US"/>
              <a:pPr>
                <a:defRPr/>
              </a:pPr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6C117-01FE-DB41-0476-C38B97262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236D44-CCB3-2852-1D80-560D08EF2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B14FFE5-0417-D64D-A6AC-0FD9B5590F6E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94858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0CE6E1-646F-3246-BE2A-DD6288B867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964312-35DE-864C-BFA2-04FFE9D333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2C3527-B970-BAE1-2E2C-69ECE40EA7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E096115-8493-C342-B5D4-07F9B8EF77AB}" type="datetimeFigureOut">
              <a:rPr lang="en-US"/>
              <a:pPr>
                <a:defRPr/>
              </a:pPr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0661E5-4B6A-C7EE-590E-5DC2F61A5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CD3296-19E0-4643-6752-7532A837A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1FFEC1D-91DD-3449-BA78-1C5E06DDB343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387205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595A681A-9A5E-83D8-0CB3-7525167D7F9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F89FEF1D-8F0C-B2C5-6B5B-C27EAB7F65A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C7CBCF-6DC4-C449-A1A3-8F7E185734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D2A7E94C-B4EB-A04B-B3F8-D99C957E043B}" type="datetimeFigureOut">
              <a:rPr lang="en-US"/>
              <a:pPr>
                <a:defRPr/>
              </a:pPr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3303BE-5CA4-BA46-A868-8FEBF89EB8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F43CCC-B953-FD4C-8408-AF8B1D0AD7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fld id="{8A8773E1-F9A5-B549-87D5-36D6C7BEA7C3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Rectangle 3">
            <a:extLst>
              <a:ext uri="{FF2B5EF4-FFF2-40B4-BE49-F238E27FC236}">
                <a16:creationId xmlns:a16="http://schemas.microsoft.com/office/drawing/2014/main" id="{3A958828-1650-5CD0-9F03-1FB71615C2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024313"/>
            <a:ext cx="11441113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700" b="1" dirty="0">
                <a:latin typeface="Courier New" panose="02070309020205020404" pitchFamily="49" charset="0"/>
                <a:cs typeface="Courier New" panose="02070309020205020404" pitchFamily="49" charset="0"/>
              </a:rPr>
              <a:t>KKRPKPGGWNTGGSRYPGQGSPGGNRYPPQGGTWGQPHGGGWGQPHGGSWGQPHGGSWGQPHGGGWGQGGGTHNQWNKPSKPKTNLKHVAGAAAAGAVVGGLGGYMLGSAMSRPMIHFGNDWEDRYYRENMYRYPNQVYYRPVDQYSNQNNFVHDCVNITIKQHTVTTTTKGENFTETDVKMMERVVEQMCVTQYQKESQAYYDGRRS</a:t>
            </a:r>
          </a:p>
        </p:txBody>
      </p:sp>
      <p:sp>
        <p:nvSpPr>
          <p:cNvPr id="5" name="Pie 4">
            <a:extLst>
              <a:ext uri="{FF2B5EF4-FFF2-40B4-BE49-F238E27FC236}">
                <a16:creationId xmlns:a16="http://schemas.microsoft.com/office/drawing/2014/main" id="{A707412A-390F-EF4F-B7D4-8ADB0DF74F35}"/>
              </a:ext>
            </a:extLst>
          </p:cNvPr>
          <p:cNvSpPr/>
          <p:nvPr/>
        </p:nvSpPr>
        <p:spPr>
          <a:xfrm>
            <a:off x="11418888" y="1930400"/>
            <a:ext cx="1954212" cy="4381500"/>
          </a:xfrm>
          <a:prstGeom prst="pie">
            <a:avLst>
              <a:gd name="adj1" fmla="val 4465459"/>
              <a:gd name="adj2" fmla="val 16977631"/>
            </a:avLst>
          </a:prstGeom>
          <a:solidFill>
            <a:schemeClr val="accent4">
              <a:lumMod val="40000"/>
              <a:lumOff val="60000"/>
            </a:schemeClr>
          </a:solidFill>
          <a:ln w="762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CFEC6EFD-4557-6E4E-AFB4-7B400B02FD58}"/>
              </a:ext>
            </a:extLst>
          </p:cNvPr>
          <p:cNvSpPr/>
          <p:nvPr/>
        </p:nvSpPr>
        <p:spPr>
          <a:xfrm>
            <a:off x="11323638" y="4105275"/>
            <a:ext cx="138112" cy="63500"/>
          </a:xfrm>
          <a:custGeom>
            <a:avLst/>
            <a:gdLst>
              <a:gd name="connsiteX0" fmla="*/ 0 w 138022"/>
              <a:gd name="connsiteY0" fmla="*/ 18286 h 64294"/>
              <a:gd name="connsiteX1" fmla="*/ 28754 w 138022"/>
              <a:gd name="connsiteY1" fmla="*/ 29788 h 64294"/>
              <a:gd name="connsiteX2" fmla="*/ 40256 w 138022"/>
              <a:gd name="connsiteY2" fmla="*/ 47041 h 64294"/>
              <a:gd name="connsiteX3" fmla="*/ 57509 w 138022"/>
              <a:gd name="connsiteY3" fmla="*/ 64294 h 64294"/>
              <a:gd name="connsiteX4" fmla="*/ 74762 w 138022"/>
              <a:gd name="connsiteY4" fmla="*/ 47041 h 64294"/>
              <a:gd name="connsiteX5" fmla="*/ 80513 w 138022"/>
              <a:gd name="connsiteY5" fmla="*/ 29788 h 64294"/>
              <a:gd name="connsiteX6" fmla="*/ 109267 w 138022"/>
              <a:gd name="connsiteY6" fmla="*/ 1033 h 64294"/>
              <a:gd name="connsiteX7" fmla="*/ 138022 w 138022"/>
              <a:gd name="connsiteY7" fmla="*/ 1033 h 642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8022" h="64294">
                <a:moveTo>
                  <a:pt x="0" y="18286"/>
                </a:moveTo>
                <a:cubicBezTo>
                  <a:pt x="9585" y="22120"/>
                  <a:pt x="20354" y="23788"/>
                  <a:pt x="28754" y="29788"/>
                </a:cubicBezTo>
                <a:cubicBezTo>
                  <a:pt x="34378" y="33805"/>
                  <a:pt x="35831" y="41731"/>
                  <a:pt x="40256" y="47041"/>
                </a:cubicBezTo>
                <a:cubicBezTo>
                  <a:pt x="45463" y="53289"/>
                  <a:pt x="51758" y="58543"/>
                  <a:pt x="57509" y="64294"/>
                </a:cubicBezTo>
                <a:cubicBezTo>
                  <a:pt x="63260" y="58543"/>
                  <a:pt x="70251" y="53808"/>
                  <a:pt x="74762" y="47041"/>
                </a:cubicBezTo>
                <a:cubicBezTo>
                  <a:pt x="78125" y="41997"/>
                  <a:pt x="77802" y="35210"/>
                  <a:pt x="80513" y="29788"/>
                </a:cubicBezTo>
                <a:cubicBezTo>
                  <a:pt x="85990" y="18835"/>
                  <a:pt x="96123" y="4319"/>
                  <a:pt x="109267" y="1033"/>
                </a:cubicBezTo>
                <a:cubicBezTo>
                  <a:pt x="118566" y="-1292"/>
                  <a:pt x="128437" y="1033"/>
                  <a:pt x="138022" y="1033"/>
                </a:cubicBezTo>
              </a:path>
            </a:pathLst>
          </a:cu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grpSp>
        <p:nvGrpSpPr>
          <p:cNvPr id="13316" name="Group 34">
            <a:extLst>
              <a:ext uri="{FF2B5EF4-FFF2-40B4-BE49-F238E27FC236}">
                <a16:creationId xmlns:a16="http://schemas.microsoft.com/office/drawing/2014/main" id="{519A0D3C-55BC-9C03-106C-75D2A4B313B0}"/>
              </a:ext>
            </a:extLst>
          </p:cNvPr>
          <p:cNvGrpSpPr>
            <a:grpSpLocks/>
          </p:cNvGrpSpPr>
          <p:nvPr/>
        </p:nvGrpSpPr>
        <p:grpSpPr bwMode="auto">
          <a:xfrm>
            <a:off x="8578850" y="3800475"/>
            <a:ext cx="122238" cy="257175"/>
            <a:chOff x="8578794" y="2589741"/>
            <a:chExt cx="122693" cy="257556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2C6A3CBD-6861-B04B-89B6-526F388E4B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44124" y="2753496"/>
              <a:ext cx="0" cy="938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CDCE1A52-4563-254E-B1CA-D0473C38ED2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602696" y="2659694"/>
              <a:ext cx="38242" cy="9698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CA6E48E-EDF1-7C4E-A29D-8F7074309B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47311" y="2659694"/>
              <a:ext cx="22308" cy="9698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C171054D-2F2F-574D-816B-843EE08931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72806" y="2589741"/>
              <a:ext cx="28681" cy="7949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F16CA7E-8695-C04C-A356-BDEF69DD70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652091" y="2589741"/>
              <a:ext cx="17528" cy="6995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A337823-EA7E-4C49-93AD-B3A2F164B2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01102" y="2592921"/>
              <a:ext cx="27088" cy="7790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D850CEB-A90B-0449-B132-0C24D47A5A7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578794" y="2591331"/>
              <a:ext cx="19121" cy="6995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317" name="Group 35">
            <a:extLst>
              <a:ext uri="{FF2B5EF4-FFF2-40B4-BE49-F238E27FC236}">
                <a16:creationId xmlns:a16="http://schemas.microsoft.com/office/drawing/2014/main" id="{C1373ECD-378C-1251-4ADE-637217345589}"/>
              </a:ext>
            </a:extLst>
          </p:cNvPr>
          <p:cNvGrpSpPr>
            <a:grpSpLocks/>
          </p:cNvGrpSpPr>
          <p:nvPr/>
        </p:nvGrpSpPr>
        <p:grpSpPr bwMode="auto">
          <a:xfrm>
            <a:off x="9451975" y="3803650"/>
            <a:ext cx="122238" cy="257175"/>
            <a:chOff x="8578794" y="2589741"/>
            <a:chExt cx="122693" cy="257556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05636C6-9F57-6D4A-AA53-FE24F8C5F1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44124" y="2753496"/>
              <a:ext cx="0" cy="938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447993D-66ED-BF4A-955D-F20DD3DF013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602696" y="2659694"/>
              <a:ext cx="38242" cy="9698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930BC5C0-167B-CB49-8AE3-89CD9C7528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47311" y="2659694"/>
              <a:ext cx="22308" cy="9698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72298C4B-953C-544E-B5E9-23B2C7BAB9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72806" y="2589741"/>
              <a:ext cx="28681" cy="7949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493130D-3AC3-7140-90F4-10B8578B584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652091" y="2589741"/>
              <a:ext cx="17528" cy="6995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E64ED14-8751-AC40-8B31-20A33B9886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01102" y="2592921"/>
              <a:ext cx="27088" cy="7790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5017A46-8744-D548-9F7F-1A8382B4FD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578794" y="2591331"/>
              <a:ext cx="19121" cy="6995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Left Bracket 43">
            <a:extLst>
              <a:ext uri="{FF2B5EF4-FFF2-40B4-BE49-F238E27FC236}">
                <a16:creationId xmlns:a16="http://schemas.microsoft.com/office/drawing/2014/main" id="{2022773A-CEAD-AB4F-8D5A-74E3600ABF7C}"/>
              </a:ext>
            </a:extLst>
          </p:cNvPr>
          <p:cNvSpPr/>
          <p:nvPr/>
        </p:nvSpPr>
        <p:spPr>
          <a:xfrm rot="16200000">
            <a:off x="9390857" y="3337719"/>
            <a:ext cx="184150" cy="1893887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5" name="Lightning Bolt 44">
            <a:extLst>
              <a:ext uri="{FF2B5EF4-FFF2-40B4-BE49-F238E27FC236}">
                <a16:creationId xmlns:a16="http://schemas.microsoft.com/office/drawing/2014/main" id="{4A1CD21C-59FE-534D-92EA-438F30855820}"/>
              </a:ext>
            </a:extLst>
          </p:cNvPr>
          <p:cNvSpPr/>
          <p:nvPr/>
        </p:nvSpPr>
        <p:spPr>
          <a:xfrm rot="11124529">
            <a:off x="4799013" y="4178300"/>
            <a:ext cx="222250" cy="514350"/>
          </a:xfrm>
          <a:prstGeom prst="lightningBol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rgbClr val="FF0000"/>
              </a:solidFill>
            </a:endParaRPr>
          </a:p>
        </p:txBody>
      </p:sp>
      <p:sp>
        <p:nvSpPr>
          <p:cNvPr id="46" name="Lightning Bolt 45">
            <a:extLst>
              <a:ext uri="{FF2B5EF4-FFF2-40B4-BE49-F238E27FC236}">
                <a16:creationId xmlns:a16="http://schemas.microsoft.com/office/drawing/2014/main" id="{5D7DE40C-BC08-0A4F-8598-C9AC331CEDA1}"/>
              </a:ext>
            </a:extLst>
          </p:cNvPr>
          <p:cNvSpPr/>
          <p:nvPr/>
        </p:nvSpPr>
        <p:spPr>
          <a:xfrm rot="11124529">
            <a:off x="3770313" y="4203700"/>
            <a:ext cx="222250" cy="514350"/>
          </a:xfrm>
          <a:prstGeom prst="lightningBol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rgbClr val="FF0000"/>
              </a:solidFill>
            </a:endParaRPr>
          </a:p>
        </p:txBody>
      </p:sp>
      <p:sp>
        <p:nvSpPr>
          <p:cNvPr id="47" name="Lightning Bolt 46">
            <a:extLst>
              <a:ext uri="{FF2B5EF4-FFF2-40B4-BE49-F238E27FC236}">
                <a16:creationId xmlns:a16="http://schemas.microsoft.com/office/drawing/2014/main" id="{74110089-04A5-E045-B09E-D63EE62EF6C5}"/>
              </a:ext>
            </a:extLst>
          </p:cNvPr>
          <p:cNvSpPr/>
          <p:nvPr/>
        </p:nvSpPr>
        <p:spPr>
          <a:xfrm rot="11124529">
            <a:off x="11129963" y="4191000"/>
            <a:ext cx="222250" cy="512763"/>
          </a:xfrm>
          <a:prstGeom prst="lightningBol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rgbClr val="FF0000"/>
              </a:solidFill>
            </a:endParaRPr>
          </a:p>
        </p:txBody>
      </p:sp>
      <p:sp>
        <p:nvSpPr>
          <p:cNvPr id="13322" name="TextBox 47">
            <a:extLst>
              <a:ext uri="{FF2B5EF4-FFF2-40B4-BE49-F238E27FC236}">
                <a16:creationId xmlns:a16="http://schemas.microsoft.com/office/drawing/2014/main" id="{EF2ED34D-B8BE-EF38-64A8-5568C57B6E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30575" y="4722813"/>
            <a:ext cx="1049338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160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beta</a:t>
            </a:r>
          </a:p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160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cleavage</a:t>
            </a:r>
          </a:p>
        </p:txBody>
      </p:sp>
      <p:sp>
        <p:nvSpPr>
          <p:cNvPr id="13323" name="TextBox 48">
            <a:extLst>
              <a:ext uri="{FF2B5EF4-FFF2-40B4-BE49-F238E27FC236}">
                <a16:creationId xmlns:a16="http://schemas.microsoft.com/office/drawing/2014/main" id="{1E9D1A7A-B6EB-8DBF-E2D7-43D4814E31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19613" y="4745038"/>
            <a:ext cx="105092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160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alpha</a:t>
            </a:r>
          </a:p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160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cleavage</a:t>
            </a:r>
          </a:p>
        </p:txBody>
      </p:sp>
      <p:sp>
        <p:nvSpPr>
          <p:cNvPr id="13324" name="TextBox 49">
            <a:extLst>
              <a:ext uri="{FF2B5EF4-FFF2-40B4-BE49-F238E27FC236}">
                <a16:creationId xmlns:a16="http://schemas.microsoft.com/office/drawing/2014/main" id="{3F1D32BF-8D06-916B-DE73-1F0E95BBC6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25113" y="4710113"/>
            <a:ext cx="109537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160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shedding</a:t>
            </a:r>
          </a:p>
        </p:txBody>
      </p:sp>
      <p:sp>
        <p:nvSpPr>
          <p:cNvPr id="13325" name="TextBox 50">
            <a:extLst>
              <a:ext uri="{FF2B5EF4-FFF2-40B4-BE49-F238E27FC236}">
                <a16:creationId xmlns:a16="http://schemas.microsoft.com/office/drawing/2014/main" id="{58F2F641-5B2E-1410-01F1-40C4C1845B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3138" y="3200400"/>
            <a:ext cx="995362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N-linked</a:t>
            </a:r>
          </a:p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glycans</a:t>
            </a:r>
          </a:p>
        </p:txBody>
      </p:sp>
      <p:sp>
        <p:nvSpPr>
          <p:cNvPr id="13326" name="TextBox 51">
            <a:extLst>
              <a:ext uri="{FF2B5EF4-FFF2-40B4-BE49-F238E27FC236}">
                <a16:creationId xmlns:a16="http://schemas.microsoft.com/office/drawing/2014/main" id="{0C7F341F-F2A7-EDB5-1B76-24A303D3FC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31238" y="4408488"/>
            <a:ext cx="158750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  <a:cs typeface="Arial" panose="020B0604020202020204" pitchFamily="34" charset="0"/>
              </a:rPr>
              <a:t>disulfide bond</a:t>
            </a:r>
          </a:p>
        </p:txBody>
      </p:sp>
      <p:sp>
        <p:nvSpPr>
          <p:cNvPr id="13327" name="TextBox 52">
            <a:extLst>
              <a:ext uri="{FF2B5EF4-FFF2-40B4-BE49-F238E27FC236}">
                <a16:creationId xmlns:a16="http://schemas.microsoft.com/office/drawing/2014/main" id="{9222BF35-F42E-2372-8CBF-562020B132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02950" y="3606800"/>
            <a:ext cx="538163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  <a:cs typeface="Arial" panose="020B0604020202020204" pitchFamily="34" charset="0"/>
              </a:rPr>
              <a:t>GPI</a:t>
            </a:r>
          </a:p>
        </p:txBody>
      </p:sp>
      <p:sp>
        <p:nvSpPr>
          <p:cNvPr id="13328" name="TextBox 53">
            <a:extLst>
              <a:ext uri="{FF2B5EF4-FFF2-40B4-BE49-F238E27FC236}">
                <a16:creationId xmlns:a16="http://schemas.microsoft.com/office/drawing/2014/main" id="{16811D9D-60FA-5F51-47E7-26DEB2AE68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520488" y="3151188"/>
            <a:ext cx="528637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  <a:cs typeface="Arial" panose="020B0604020202020204" pitchFamily="34" charset="0"/>
              </a:rPr>
              <a:t>cell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5DABED2-AFA2-7444-9FDE-B3BA4EDD7794}"/>
              </a:ext>
            </a:extLst>
          </p:cNvPr>
          <p:cNvCxnSpPr>
            <a:cxnSpLocks/>
          </p:cNvCxnSpPr>
          <p:nvPr/>
        </p:nvCxnSpPr>
        <p:spPr>
          <a:xfrm>
            <a:off x="11241088" y="3908425"/>
            <a:ext cx="104775" cy="16192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582BB0-C8A7-0E46-82D2-C7ADE09FB097}"/>
              </a:ext>
            </a:extLst>
          </p:cNvPr>
          <p:cNvSpPr txBox="1"/>
          <p:nvPr/>
        </p:nvSpPr>
        <p:spPr>
          <a:xfrm>
            <a:off x="1262063" y="5241925"/>
            <a:ext cx="1257300" cy="33813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 terminus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EF338FC-2156-164E-944E-174CB5CFE7D7}"/>
              </a:ext>
            </a:extLst>
          </p:cNvPr>
          <p:cNvSpPr txBox="1"/>
          <p:nvPr/>
        </p:nvSpPr>
        <p:spPr>
          <a:xfrm>
            <a:off x="8924925" y="5241925"/>
            <a:ext cx="1257300" cy="33813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 terminus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DEB488E3-854F-2745-8273-6A214F95A351}"/>
              </a:ext>
            </a:extLst>
          </p:cNvPr>
          <p:cNvSpPr/>
          <p:nvPr/>
        </p:nvSpPr>
        <p:spPr>
          <a:xfrm>
            <a:off x="10071640" y="4051300"/>
            <a:ext cx="642937" cy="130175"/>
          </a:xfrm>
          <a:prstGeom prst="rect">
            <a:avLst/>
          </a:prstGeom>
          <a:solidFill>
            <a:srgbClr val="BFBFBF">
              <a:alpha val="29804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D675F358-6360-7D4E-8CE8-15C544007C9D}"/>
              </a:ext>
            </a:extLst>
          </p:cNvPr>
          <p:cNvCxnSpPr>
            <a:cxnSpLocks/>
          </p:cNvCxnSpPr>
          <p:nvPr/>
        </p:nvCxnSpPr>
        <p:spPr>
          <a:xfrm>
            <a:off x="10098088" y="5421313"/>
            <a:ext cx="1076325" cy="0"/>
          </a:xfrm>
          <a:prstGeom prst="straightConnector1">
            <a:avLst/>
          </a:prstGeom>
          <a:ln w="5715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3C427A99-027D-9247-896C-2FFA5ACDCB12}"/>
              </a:ext>
            </a:extLst>
          </p:cNvPr>
          <p:cNvCxnSpPr>
            <a:cxnSpLocks/>
          </p:cNvCxnSpPr>
          <p:nvPr/>
        </p:nvCxnSpPr>
        <p:spPr>
          <a:xfrm flipH="1">
            <a:off x="257175" y="5411788"/>
            <a:ext cx="1076325" cy="0"/>
          </a:xfrm>
          <a:prstGeom prst="straightConnector1">
            <a:avLst/>
          </a:prstGeom>
          <a:ln w="5715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36F92BED-6FDC-C645-BCC2-95D213623D82}"/>
              </a:ext>
            </a:extLst>
          </p:cNvPr>
          <p:cNvCxnSpPr>
            <a:cxnSpLocks/>
          </p:cNvCxnSpPr>
          <p:nvPr/>
        </p:nvCxnSpPr>
        <p:spPr>
          <a:xfrm flipV="1">
            <a:off x="10425113" y="2441317"/>
            <a:ext cx="0" cy="157664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46" name="TextBox 80">
            <a:extLst>
              <a:ext uri="{FF2B5EF4-FFF2-40B4-BE49-F238E27FC236}">
                <a16:creationId xmlns:a16="http://schemas.microsoft.com/office/drawing/2014/main" id="{7B28F1AB-6CC0-AE5F-F6FE-FFE87100A8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74212" y="1907054"/>
            <a:ext cx="1665841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1600" b="1" dirty="0">
                <a:latin typeface="Andale Mono" panose="020B0509000000000004" pitchFamily="49" charset="0"/>
                <a:cs typeface="Arial" panose="020B0604020202020204" pitchFamily="34" charset="0"/>
              </a:rPr>
              <a:t>VVEQMCVTQYQK</a:t>
            </a:r>
          </a:p>
          <a:p>
            <a:pPr algn="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1600" b="1" dirty="0">
                <a:latin typeface="Andale Mono" panose="020B0509000000000004" pitchFamily="49" charset="0"/>
                <a:cs typeface="Arial" panose="020B0604020202020204" pitchFamily="34" charset="0"/>
              </a:rPr>
              <a:t>peptide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B283E4B-374E-4748-8A9E-320FD7DA34FB}"/>
              </a:ext>
            </a:extLst>
          </p:cNvPr>
          <p:cNvSpPr/>
          <p:nvPr/>
        </p:nvSpPr>
        <p:spPr>
          <a:xfrm>
            <a:off x="9303644" y="4056063"/>
            <a:ext cx="536575" cy="130175"/>
          </a:xfrm>
          <a:prstGeom prst="rect">
            <a:avLst/>
          </a:prstGeom>
          <a:solidFill>
            <a:srgbClr val="BFBFBF">
              <a:alpha val="29804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4B767AB3-3F53-AE49-942C-C0A20812D4B3}"/>
              </a:ext>
            </a:extLst>
          </p:cNvPr>
          <p:cNvCxnSpPr>
            <a:cxnSpLocks/>
          </p:cNvCxnSpPr>
          <p:nvPr/>
        </p:nvCxnSpPr>
        <p:spPr>
          <a:xfrm flipV="1">
            <a:off x="9632950" y="3054096"/>
            <a:ext cx="0" cy="96386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49" name="TextBox 86">
            <a:extLst>
              <a:ext uri="{FF2B5EF4-FFF2-40B4-BE49-F238E27FC236}">
                <a16:creationId xmlns:a16="http://schemas.microsoft.com/office/drawing/2014/main" id="{CC18904B-4D82-A441-AC86-F67373C4D4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38241" y="2522612"/>
            <a:ext cx="1418978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1600" b="1" dirty="0">
                <a:latin typeface="Andale Mono" panose="020B0509000000000004" pitchFamily="49" charset="0"/>
                <a:cs typeface="Arial" panose="020B0604020202020204" pitchFamily="34" charset="0"/>
              </a:rPr>
              <a:t>GENFTETDVK</a:t>
            </a:r>
          </a:p>
          <a:p>
            <a:pPr algn="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1600" b="1" dirty="0">
                <a:latin typeface="Andale Mono" panose="020B0509000000000004" pitchFamily="49" charset="0"/>
                <a:cs typeface="Arial" panose="020B0604020202020204" pitchFamily="34" charset="0"/>
              </a:rPr>
              <a:t>peptide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9E57B4F-124A-3135-EC24-03E0F9C09C1D}"/>
              </a:ext>
            </a:extLst>
          </p:cNvPr>
          <p:cNvSpPr/>
          <p:nvPr/>
        </p:nvSpPr>
        <p:spPr>
          <a:xfrm>
            <a:off x="4086160" y="4063926"/>
            <a:ext cx="536575" cy="130175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3" name="TextBox 86">
            <a:extLst>
              <a:ext uri="{FF2B5EF4-FFF2-40B4-BE49-F238E27FC236}">
                <a16:creationId xmlns:a16="http://schemas.microsoft.com/office/drawing/2014/main" id="{B1A2E7E1-C218-EEFB-62AE-4E585041A2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7856" y="2600831"/>
            <a:ext cx="1701107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1800" b="1" dirty="0">
                <a:latin typeface="Andale Mono" panose="020B0509000000000004" pitchFamily="49" charset="0"/>
                <a:cs typeface="Arial" panose="020B0604020202020204" pitchFamily="34" charset="0"/>
              </a:rPr>
              <a:t>antibody </a:t>
            </a:r>
          </a:p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1800" b="1" dirty="0">
                <a:latin typeface="Andale Mono" panose="020B0509000000000004" pitchFamily="49" charset="0"/>
                <a:cs typeface="Arial" panose="020B0604020202020204" pitchFamily="34" charset="0"/>
              </a:rPr>
              <a:t>D13 epitope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1A06E7C-A987-2B37-0762-777B0AEC4434}"/>
              </a:ext>
            </a:extLst>
          </p:cNvPr>
          <p:cNvCxnSpPr>
            <a:cxnSpLocks/>
          </p:cNvCxnSpPr>
          <p:nvPr/>
        </p:nvCxnSpPr>
        <p:spPr>
          <a:xfrm flipV="1">
            <a:off x="4120865" y="3184346"/>
            <a:ext cx="0" cy="87471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C1DDD886-D6EF-D611-963A-E559DB5A4AFF}"/>
              </a:ext>
            </a:extLst>
          </p:cNvPr>
          <p:cNvSpPr/>
          <p:nvPr/>
        </p:nvSpPr>
        <p:spPr>
          <a:xfrm>
            <a:off x="8603296" y="4051226"/>
            <a:ext cx="808990" cy="135012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D5A6A51-7052-A80E-8B87-60580311D7F6}"/>
              </a:ext>
            </a:extLst>
          </p:cNvPr>
          <p:cNvSpPr/>
          <p:nvPr/>
        </p:nvSpPr>
        <p:spPr>
          <a:xfrm>
            <a:off x="10552432" y="4049713"/>
            <a:ext cx="553854" cy="130175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2" name="TextBox 86">
            <a:extLst>
              <a:ext uri="{FF2B5EF4-FFF2-40B4-BE49-F238E27FC236}">
                <a16:creationId xmlns:a16="http://schemas.microsoft.com/office/drawing/2014/main" id="{FA4D8503-D033-BD68-A6F4-6CF8F1A9B7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61681" y="2592431"/>
            <a:ext cx="1701107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1800" b="1" dirty="0">
                <a:latin typeface="Andale Mono" panose="020B0509000000000004" pitchFamily="49" charset="0"/>
                <a:cs typeface="Arial" panose="020B0604020202020204" pitchFamily="34" charset="0"/>
              </a:rPr>
              <a:t>ELISA</a:t>
            </a:r>
          </a:p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1800" b="1" dirty="0">
                <a:latin typeface="Andale Mono" panose="020B0509000000000004" pitchFamily="49" charset="0"/>
                <a:cs typeface="Arial" panose="020B0604020202020204" pitchFamily="34" charset="0"/>
              </a:rPr>
              <a:t>antibody </a:t>
            </a:r>
          </a:p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1800" b="1" dirty="0">
                <a:latin typeface="Andale Mono" panose="020B0509000000000004" pitchFamily="49" charset="0"/>
                <a:cs typeface="Arial" panose="020B0604020202020204" pitchFamily="34" charset="0"/>
              </a:rPr>
              <a:t>8H4 epitope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35437D6-0A55-CB40-B0E7-1F280620FBF0}"/>
              </a:ext>
            </a:extLst>
          </p:cNvPr>
          <p:cNvCxnSpPr>
            <a:cxnSpLocks/>
          </p:cNvCxnSpPr>
          <p:nvPr/>
        </p:nvCxnSpPr>
        <p:spPr>
          <a:xfrm flipH="1" flipV="1">
            <a:off x="8258065" y="3454551"/>
            <a:ext cx="346185" cy="60985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65530C7-0FE3-DD8A-C75B-3755E68934D3}"/>
              </a:ext>
            </a:extLst>
          </p:cNvPr>
          <p:cNvCxnSpPr>
            <a:cxnSpLocks/>
          </p:cNvCxnSpPr>
          <p:nvPr/>
        </p:nvCxnSpPr>
        <p:spPr>
          <a:xfrm flipV="1">
            <a:off x="10906125" y="3085846"/>
            <a:ext cx="0" cy="96386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86">
            <a:extLst>
              <a:ext uri="{FF2B5EF4-FFF2-40B4-BE49-F238E27FC236}">
                <a16:creationId xmlns:a16="http://schemas.microsoft.com/office/drawing/2014/main" id="{57051D8E-BD76-5EAF-6FB4-98CC5BD7BC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60173" y="2050604"/>
            <a:ext cx="1295547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1600" b="1" dirty="0">
                <a:latin typeface="Andale Mono" panose="020B0509000000000004" pitchFamily="49" charset="0"/>
                <a:cs typeface="Arial" panose="020B0604020202020204" pitchFamily="34" charset="0"/>
              </a:rPr>
              <a:t>ELISA</a:t>
            </a:r>
          </a:p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1600" b="1" dirty="0">
                <a:latin typeface="Andale Mono" panose="020B0509000000000004" pitchFamily="49" charset="0"/>
                <a:cs typeface="Arial" panose="020B0604020202020204" pitchFamily="34" charset="0"/>
              </a:rPr>
              <a:t>antibody </a:t>
            </a:r>
          </a:p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1600" b="1" dirty="0">
                <a:latin typeface="Andale Mono" panose="020B0509000000000004" pitchFamily="49" charset="0"/>
                <a:cs typeface="Arial" panose="020B0604020202020204" pitchFamily="34" charset="0"/>
              </a:rPr>
              <a:t>EP1802Y</a:t>
            </a:r>
          </a:p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en-US" sz="1600" b="1" dirty="0">
                <a:latin typeface="Andale Mono" panose="020B0509000000000004" pitchFamily="49" charset="0"/>
                <a:cs typeface="Arial" panose="020B0604020202020204" pitchFamily="34" charset="0"/>
              </a:rPr>
              <a:t>epitope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21882</TotalTime>
  <Words>31</Words>
  <Application>Microsoft Macintosh PowerPoint</Application>
  <PresentationFormat>Widescreen</PresentationFormat>
  <Paragraphs>26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Calibri</vt:lpstr>
      <vt:lpstr>Arial</vt:lpstr>
      <vt:lpstr>Calibri Light</vt:lpstr>
      <vt:lpstr>Courier New</vt:lpstr>
      <vt:lpstr>Andale Mono</vt:lpstr>
      <vt:lpstr>Calisto MT</vt:lpstr>
      <vt:lpstr>ＭＳ Ｐゴシック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Eric Minikel</dc:creator>
  <cp:lastModifiedBy>Vallabh/Minikel Lab</cp:lastModifiedBy>
  <cp:revision>31</cp:revision>
  <dcterms:created xsi:type="dcterms:W3CDTF">2019-01-04T16:30:45Z</dcterms:created>
  <dcterms:modified xsi:type="dcterms:W3CDTF">2026-03-30T16:23:41Z</dcterms:modified>
</cp:coreProperties>
</file>
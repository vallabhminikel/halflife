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599"/>
  </p:normalViewPr>
  <p:slideViewPr>
    <p:cSldViewPr snapToGrid="0" snapToObjects="1">
      <p:cViewPr varScale="1">
        <p:scale>
          <a:sx n="119" d="100"/>
          <a:sy n="119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1D05-3373-D242-9904-45919FA2C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682A7-D895-554D-9F8A-54E4D762F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1DE51-375F-ABC6-571C-A6256A1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A8ED6-8F3A-5047-A56D-59AE5F8B1FE1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A896A-33FC-E83D-7188-F37756FA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4AFF1-1000-6557-EDB4-2735B430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D31C3-9D2E-EB47-A389-B79D6FDEFC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52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171E-FA1B-574C-BCC5-1EC18543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2D29-21F0-A446-A9EE-F359AFDA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795F2-87D7-752C-382D-8E8F5971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D6263-4E5E-BB48-81EA-1E0EE0F05B41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2095A-C387-8233-84A4-3D5A2384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0977D-A6A3-3EF4-AEF7-4BC9E264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BA602-31B1-B341-ADD1-2E3E3F4A8F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52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A642-1755-A949-9BCD-3F9A0369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D23CE-4A31-0146-9A65-8D989E8DB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5B841-5BE5-0F43-9BC2-89EC99D3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A5A86-A8A6-9345-9457-0A776D316486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DC8B5-7D87-5691-7246-E23398249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53C89-2655-F123-707D-C1882C28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82A8E-737A-9247-B6F2-1BCFA8B829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26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77D0-6A41-FE41-B32C-1128227E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11814-A807-0A49-BC92-DBEDCDFD0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6038A-AAFC-004E-BC8D-7E9841CF0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6DE573-922A-8DF4-7238-58CEC66A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956FC-9DD2-D44E-9ACA-DE486A452674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23EA96B-6CE0-7374-D1E4-22C37DFA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39E367D-1C94-1FDC-6C73-FD723F9E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18755-2955-C342-8EBF-80018C566A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87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D3D8-5323-A64E-B59F-29EC6981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32F94-8D66-4343-A5CA-301A7A243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DCED4-6371-FE4E-9509-09C58D37F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DC9FB-151F-394E-9791-B69BFC665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DE734-A9C0-C944-BD1C-81C4F8E5C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164DC01-611E-7309-30F7-F94A09E8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B7BA0-AB89-6F40-9598-E1DDE50A6BCA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78F533A-3014-F641-1AFF-CE5BB59C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C02853-8BF8-D50B-1B88-FE904443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BE2C86-3225-EE4B-B093-338F562553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99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B576-CDA9-D44A-9C03-D37B8058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6CE9846-3362-42CA-35F2-D6A1BD75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3B1E8-192A-E948-8BC9-DDCE199C6D51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E381D54-96A9-0511-CFE6-B8B5F663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F3F677-3055-1E37-0B68-CC71B08C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E010B-7DF7-5040-AB7F-F80B0C9C9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32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DE0BA94-8E87-75A4-1389-92ABE998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66E15-FC48-FD4A-A954-128992B10F1C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7B5C20-0BCA-F618-F38D-D8B914A7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086A81-0148-957C-4617-41D5AE11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78B50-70F4-604F-9669-F203B47CB0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05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701D-3B97-9446-AA09-EACACBE0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3DB36-3AB4-DF4C-B135-77E4B76C3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3A562-11A6-914B-9DA8-E81E7A285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3826F78-6F2E-E762-C716-5486FDD5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E7471-5AD2-384B-AFD6-257AD5429DFA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EEA747-6F0D-2AD0-0576-579BACB4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EFF8AE-84BF-AD31-4BDF-D0CCF99C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961C4-5FDF-F84E-BED9-203541A062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97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6513-47E3-1C42-A237-5F04D308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DECD9-B503-2E45-B5FE-8B9E676AA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CF01B-2672-3947-BDAE-586DEC71C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FFA555F-2616-CD0D-6467-FB0908E1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FA68E-01EE-534A-A5FF-C1D8A9764671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9A09AD7-EB69-2226-77AA-48BA8441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DA1E61-67BD-757C-26CC-C428F762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44B23D-E842-3343-8EAF-5A9CF91774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349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8AE0-D38C-6D4D-8E46-6AAAAA82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CE7F8-1A0A-144F-9177-625BF85F3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A22C6-E1DC-95CC-8A4E-788678E2B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68F34-19F5-7A4E-9803-12043955D3BE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6C117-01FE-DB41-0476-C38B9726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6D44-CCB3-2852-1D80-560D08EF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14FFE5-0417-D64D-A6AC-0FD9B5590F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85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0CE6E1-646F-3246-BE2A-DD6288B86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64312-35DE-864C-BFA2-04FFE9D33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C3527-B970-BAE1-2E2C-69ECE40E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96115-8493-C342-B5D4-07F9B8EF77AB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661E5-4B6A-C7EE-590E-5DC2F61A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D3296-19E0-4643-6752-7532A837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FFEC1D-91DD-3449-BA78-1C5E06DDB3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72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95A681A-9A5E-83D8-0CB3-7525167D7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89FEF1D-8F0C-B2C5-6B5B-C27EAB7F6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7CBCF-6DC4-C449-A1A3-8F7E18573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2A7E94C-B4EB-A04B-B3F8-D99C957E043B}" type="datetimeFigureOut">
              <a:rPr lang="en-US"/>
              <a:pPr>
                <a:defRPr/>
              </a:pPr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303BE-5CA4-BA46-A868-8FEBF89EB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43CCC-B953-FD4C-8408-AF8B1D0AD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8A8773E1-F9A5-B549-87D5-36D6C7BEA7C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>
            <a:extLst>
              <a:ext uri="{FF2B5EF4-FFF2-40B4-BE49-F238E27FC236}">
                <a16:creationId xmlns:a16="http://schemas.microsoft.com/office/drawing/2014/main" id="{3A958828-1650-5CD0-9F03-1FB71615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24313"/>
            <a:ext cx="1144111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700" b="1">
                <a:latin typeface="Courier New" panose="02070309020205020404" pitchFamily="49" charset="0"/>
                <a:cs typeface="Courier New" panose="02070309020205020404" pitchFamily="49" charset="0"/>
              </a:rPr>
              <a:t>KKRPKPGGWNTGGSRYPGQGSPGGNRYPPQGGGGWGQPHGGGWGQPHGGGWGQPHGGGWGQPHGGGWGQGGGTHSQWNKPSKPKTNMKHMAGAAAAGAVVGGLGGYMLGSAMSRPIIHFGSDYEDRYYRENMHRYPNQVYYRPMDEYSNQNNFVHDCVNITIKQHTVTTTTKGENFTETDVKMMERVVEQMCITQYERESQAYYQRGS</a:t>
            </a:r>
          </a:p>
        </p:txBody>
      </p:sp>
      <p:sp>
        <p:nvSpPr>
          <p:cNvPr id="5" name="Pie 4">
            <a:extLst>
              <a:ext uri="{FF2B5EF4-FFF2-40B4-BE49-F238E27FC236}">
                <a16:creationId xmlns:a16="http://schemas.microsoft.com/office/drawing/2014/main" id="{A707412A-390F-EF4F-B7D4-8ADB0DF74F35}"/>
              </a:ext>
            </a:extLst>
          </p:cNvPr>
          <p:cNvSpPr/>
          <p:nvPr/>
        </p:nvSpPr>
        <p:spPr>
          <a:xfrm>
            <a:off x="11418888" y="1930400"/>
            <a:ext cx="1954212" cy="4381500"/>
          </a:xfrm>
          <a:prstGeom prst="pie">
            <a:avLst>
              <a:gd name="adj1" fmla="val 4465459"/>
              <a:gd name="adj2" fmla="val 16977631"/>
            </a:avLst>
          </a:prstGeom>
          <a:solidFill>
            <a:schemeClr val="accent4">
              <a:lumMod val="40000"/>
              <a:lumOff val="6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FEC6EFD-4557-6E4E-AFB4-7B400B02FD58}"/>
              </a:ext>
            </a:extLst>
          </p:cNvPr>
          <p:cNvSpPr/>
          <p:nvPr/>
        </p:nvSpPr>
        <p:spPr>
          <a:xfrm>
            <a:off x="11323638" y="4105275"/>
            <a:ext cx="138112" cy="63500"/>
          </a:xfrm>
          <a:custGeom>
            <a:avLst/>
            <a:gdLst>
              <a:gd name="connsiteX0" fmla="*/ 0 w 138022"/>
              <a:gd name="connsiteY0" fmla="*/ 18286 h 64294"/>
              <a:gd name="connsiteX1" fmla="*/ 28754 w 138022"/>
              <a:gd name="connsiteY1" fmla="*/ 29788 h 64294"/>
              <a:gd name="connsiteX2" fmla="*/ 40256 w 138022"/>
              <a:gd name="connsiteY2" fmla="*/ 47041 h 64294"/>
              <a:gd name="connsiteX3" fmla="*/ 57509 w 138022"/>
              <a:gd name="connsiteY3" fmla="*/ 64294 h 64294"/>
              <a:gd name="connsiteX4" fmla="*/ 74762 w 138022"/>
              <a:gd name="connsiteY4" fmla="*/ 47041 h 64294"/>
              <a:gd name="connsiteX5" fmla="*/ 80513 w 138022"/>
              <a:gd name="connsiteY5" fmla="*/ 29788 h 64294"/>
              <a:gd name="connsiteX6" fmla="*/ 109267 w 138022"/>
              <a:gd name="connsiteY6" fmla="*/ 1033 h 64294"/>
              <a:gd name="connsiteX7" fmla="*/ 138022 w 138022"/>
              <a:gd name="connsiteY7" fmla="*/ 1033 h 6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8022" h="64294">
                <a:moveTo>
                  <a:pt x="0" y="18286"/>
                </a:moveTo>
                <a:cubicBezTo>
                  <a:pt x="9585" y="22120"/>
                  <a:pt x="20354" y="23788"/>
                  <a:pt x="28754" y="29788"/>
                </a:cubicBezTo>
                <a:cubicBezTo>
                  <a:pt x="34378" y="33805"/>
                  <a:pt x="35831" y="41731"/>
                  <a:pt x="40256" y="47041"/>
                </a:cubicBezTo>
                <a:cubicBezTo>
                  <a:pt x="45463" y="53289"/>
                  <a:pt x="51758" y="58543"/>
                  <a:pt x="57509" y="64294"/>
                </a:cubicBezTo>
                <a:cubicBezTo>
                  <a:pt x="63260" y="58543"/>
                  <a:pt x="70251" y="53808"/>
                  <a:pt x="74762" y="47041"/>
                </a:cubicBezTo>
                <a:cubicBezTo>
                  <a:pt x="78125" y="41997"/>
                  <a:pt x="77802" y="35210"/>
                  <a:pt x="80513" y="29788"/>
                </a:cubicBezTo>
                <a:cubicBezTo>
                  <a:pt x="85990" y="18835"/>
                  <a:pt x="96123" y="4319"/>
                  <a:pt x="109267" y="1033"/>
                </a:cubicBezTo>
                <a:cubicBezTo>
                  <a:pt x="118566" y="-1292"/>
                  <a:pt x="128437" y="1033"/>
                  <a:pt x="138022" y="1033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3316" name="Group 34">
            <a:extLst>
              <a:ext uri="{FF2B5EF4-FFF2-40B4-BE49-F238E27FC236}">
                <a16:creationId xmlns:a16="http://schemas.microsoft.com/office/drawing/2014/main" id="{519A0D3C-55BC-9C03-106C-75D2A4B313B0}"/>
              </a:ext>
            </a:extLst>
          </p:cNvPr>
          <p:cNvGrpSpPr>
            <a:grpSpLocks/>
          </p:cNvGrpSpPr>
          <p:nvPr/>
        </p:nvGrpSpPr>
        <p:grpSpPr bwMode="auto">
          <a:xfrm>
            <a:off x="8578850" y="3800475"/>
            <a:ext cx="122238" cy="257175"/>
            <a:chOff x="8578794" y="2589741"/>
            <a:chExt cx="122693" cy="257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6A3CBD-6861-B04B-89B6-526F388E4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4124" y="2753496"/>
              <a:ext cx="0" cy="938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DCE1A52-4563-254E-B1CA-D0473C38ED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2696" y="2659694"/>
              <a:ext cx="38242" cy="969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CA6E48E-EDF1-7C4E-A29D-8F7074309B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7311" y="2659694"/>
              <a:ext cx="22308" cy="969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171054D-2F2F-574D-816B-843EE0893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2806" y="2589741"/>
              <a:ext cx="28681" cy="79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16CA7E-8695-C04C-A356-BDEF69DD70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52091" y="2589741"/>
              <a:ext cx="17528" cy="699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A337823-EA7E-4C49-93AD-B3A2F164B2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102" y="2592921"/>
              <a:ext cx="27088" cy="779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D850CEB-A90B-0449-B132-0C24D47A5A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8794" y="2591331"/>
              <a:ext cx="19121" cy="699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17" name="Group 35">
            <a:extLst>
              <a:ext uri="{FF2B5EF4-FFF2-40B4-BE49-F238E27FC236}">
                <a16:creationId xmlns:a16="http://schemas.microsoft.com/office/drawing/2014/main" id="{C1373ECD-378C-1251-4ADE-637217345589}"/>
              </a:ext>
            </a:extLst>
          </p:cNvPr>
          <p:cNvGrpSpPr>
            <a:grpSpLocks/>
          </p:cNvGrpSpPr>
          <p:nvPr/>
        </p:nvGrpSpPr>
        <p:grpSpPr bwMode="auto">
          <a:xfrm>
            <a:off x="9451975" y="3803650"/>
            <a:ext cx="122238" cy="257175"/>
            <a:chOff x="8578794" y="2589741"/>
            <a:chExt cx="122693" cy="25755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05636C6-9F57-6D4A-AA53-FE24F8C5F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4124" y="2753496"/>
              <a:ext cx="0" cy="938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447993D-66ED-BF4A-955D-F20DD3DF01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2696" y="2659694"/>
              <a:ext cx="38242" cy="969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0BC5C0-167B-CB49-8AE3-89CD9C7528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7311" y="2659694"/>
              <a:ext cx="22308" cy="969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2298C4B-953C-544E-B5E9-23B2C7BAB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2806" y="2589741"/>
              <a:ext cx="28681" cy="794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493130D-3AC3-7140-90F4-10B8578B58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52091" y="2589741"/>
              <a:ext cx="17528" cy="699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E64ED14-8751-AC40-8B31-20A33B988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102" y="2592921"/>
              <a:ext cx="27088" cy="779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5017A46-8744-D548-9F7F-1A8382B4FD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78794" y="2591331"/>
              <a:ext cx="19121" cy="699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eft Bracket 43">
            <a:extLst>
              <a:ext uri="{FF2B5EF4-FFF2-40B4-BE49-F238E27FC236}">
                <a16:creationId xmlns:a16="http://schemas.microsoft.com/office/drawing/2014/main" id="{2022773A-CEAD-AB4F-8D5A-74E3600ABF7C}"/>
              </a:ext>
            </a:extLst>
          </p:cNvPr>
          <p:cNvSpPr/>
          <p:nvPr/>
        </p:nvSpPr>
        <p:spPr>
          <a:xfrm rot="16200000">
            <a:off x="9390857" y="3337719"/>
            <a:ext cx="184150" cy="1893887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Lightning Bolt 44">
            <a:extLst>
              <a:ext uri="{FF2B5EF4-FFF2-40B4-BE49-F238E27FC236}">
                <a16:creationId xmlns:a16="http://schemas.microsoft.com/office/drawing/2014/main" id="{4A1CD21C-59FE-534D-92EA-438F30855820}"/>
              </a:ext>
            </a:extLst>
          </p:cNvPr>
          <p:cNvSpPr/>
          <p:nvPr/>
        </p:nvSpPr>
        <p:spPr>
          <a:xfrm rot="11124529">
            <a:off x="4799013" y="4178300"/>
            <a:ext cx="222250" cy="514350"/>
          </a:xfrm>
          <a:prstGeom prst="lightningBol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Lightning Bolt 45">
            <a:extLst>
              <a:ext uri="{FF2B5EF4-FFF2-40B4-BE49-F238E27FC236}">
                <a16:creationId xmlns:a16="http://schemas.microsoft.com/office/drawing/2014/main" id="{5D7DE40C-BC08-0A4F-8598-C9AC331CEDA1}"/>
              </a:ext>
            </a:extLst>
          </p:cNvPr>
          <p:cNvSpPr/>
          <p:nvPr/>
        </p:nvSpPr>
        <p:spPr>
          <a:xfrm rot="11124529">
            <a:off x="3770313" y="4203700"/>
            <a:ext cx="222250" cy="514350"/>
          </a:xfrm>
          <a:prstGeom prst="lightningBol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Lightning Bolt 46">
            <a:extLst>
              <a:ext uri="{FF2B5EF4-FFF2-40B4-BE49-F238E27FC236}">
                <a16:creationId xmlns:a16="http://schemas.microsoft.com/office/drawing/2014/main" id="{74110089-04A5-E045-B09E-D63EE62EF6C5}"/>
              </a:ext>
            </a:extLst>
          </p:cNvPr>
          <p:cNvSpPr/>
          <p:nvPr/>
        </p:nvSpPr>
        <p:spPr>
          <a:xfrm rot="11124529">
            <a:off x="11129963" y="4191000"/>
            <a:ext cx="222250" cy="512763"/>
          </a:xfrm>
          <a:prstGeom prst="lightningBol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13322" name="TextBox 47">
            <a:extLst>
              <a:ext uri="{FF2B5EF4-FFF2-40B4-BE49-F238E27FC236}">
                <a16:creationId xmlns:a16="http://schemas.microsoft.com/office/drawing/2014/main" id="{EF2ED34D-B8BE-EF38-64A8-5568C57B6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4722813"/>
            <a:ext cx="104933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beta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cleavage</a:t>
            </a:r>
          </a:p>
        </p:txBody>
      </p:sp>
      <p:sp>
        <p:nvSpPr>
          <p:cNvPr id="13323" name="TextBox 48">
            <a:extLst>
              <a:ext uri="{FF2B5EF4-FFF2-40B4-BE49-F238E27FC236}">
                <a16:creationId xmlns:a16="http://schemas.microsoft.com/office/drawing/2014/main" id="{1E9D1A7A-B6EB-8DBF-E2D7-43D4814E3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9613" y="4745038"/>
            <a:ext cx="10509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cleavage</a:t>
            </a:r>
          </a:p>
        </p:txBody>
      </p:sp>
      <p:sp>
        <p:nvSpPr>
          <p:cNvPr id="13324" name="TextBox 49">
            <a:extLst>
              <a:ext uri="{FF2B5EF4-FFF2-40B4-BE49-F238E27FC236}">
                <a16:creationId xmlns:a16="http://schemas.microsoft.com/office/drawing/2014/main" id="{3F1D32BF-8D06-916B-DE73-1F0E95BBC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5113" y="4710113"/>
            <a:ext cx="109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shedding</a:t>
            </a:r>
          </a:p>
        </p:txBody>
      </p:sp>
      <p:sp>
        <p:nvSpPr>
          <p:cNvPr id="13325" name="TextBox 50">
            <a:extLst>
              <a:ext uri="{FF2B5EF4-FFF2-40B4-BE49-F238E27FC236}">
                <a16:creationId xmlns:a16="http://schemas.microsoft.com/office/drawing/2014/main" id="{58F2F641-5B2E-1410-01F1-40C4C1845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8" y="3200400"/>
            <a:ext cx="9953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N-linked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glycans</a:t>
            </a:r>
          </a:p>
        </p:txBody>
      </p:sp>
      <p:sp>
        <p:nvSpPr>
          <p:cNvPr id="13326" name="TextBox 51">
            <a:extLst>
              <a:ext uri="{FF2B5EF4-FFF2-40B4-BE49-F238E27FC236}">
                <a16:creationId xmlns:a16="http://schemas.microsoft.com/office/drawing/2014/main" id="{0C7F341F-F2A7-EDB5-1B76-24A303D3F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1238" y="4408488"/>
            <a:ext cx="15875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disulfide bond</a:t>
            </a:r>
          </a:p>
        </p:txBody>
      </p:sp>
      <p:sp>
        <p:nvSpPr>
          <p:cNvPr id="13327" name="TextBox 52">
            <a:extLst>
              <a:ext uri="{FF2B5EF4-FFF2-40B4-BE49-F238E27FC236}">
                <a16:creationId xmlns:a16="http://schemas.microsoft.com/office/drawing/2014/main" id="{9222BF35-F42E-2372-8CBF-562020B13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2950" y="3606800"/>
            <a:ext cx="5381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GPI</a:t>
            </a:r>
          </a:p>
        </p:txBody>
      </p:sp>
      <p:sp>
        <p:nvSpPr>
          <p:cNvPr id="13328" name="TextBox 53">
            <a:extLst>
              <a:ext uri="{FF2B5EF4-FFF2-40B4-BE49-F238E27FC236}">
                <a16:creationId xmlns:a16="http://schemas.microsoft.com/office/drawing/2014/main" id="{16811D9D-60FA-5F51-47E7-26DEB2AE6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0488" y="3151188"/>
            <a:ext cx="528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DABED2-AFA2-7444-9FDE-B3BA4EDD7794}"/>
              </a:ext>
            </a:extLst>
          </p:cNvPr>
          <p:cNvCxnSpPr>
            <a:cxnSpLocks/>
          </p:cNvCxnSpPr>
          <p:nvPr/>
        </p:nvCxnSpPr>
        <p:spPr>
          <a:xfrm>
            <a:off x="11241088" y="3908425"/>
            <a:ext cx="104775" cy="1619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582BB0-C8A7-0E46-82D2-C7ADE09FB097}"/>
              </a:ext>
            </a:extLst>
          </p:cNvPr>
          <p:cNvSpPr txBox="1"/>
          <p:nvPr/>
        </p:nvSpPr>
        <p:spPr>
          <a:xfrm>
            <a:off x="1262063" y="5241925"/>
            <a:ext cx="1257300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terminus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F338FC-2156-164E-944E-174CB5CFE7D7}"/>
              </a:ext>
            </a:extLst>
          </p:cNvPr>
          <p:cNvSpPr txBox="1"/>
          <p:nvPr/>
        </p:nvSpPr>
        <p:spPr>
          <a:xfrm>
            <a:off x="8924925" y="5241925"/>
            <a:ext cx="1257300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terminus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4D8AA1F-42B3-A245-892C-428108AD3F18}"/>
              </a:ext>
            </a:extLst>
          </p:cNvPr>
          <p:cNvSpPr/>
          <p:nvPr/>
        </p:nvSpPr>
        <p:spPr>
          <a:xfrm>
            <a:off x="193675" y="4051300"/>
            <a:ext cx="706438" cy="130175"/>
          </a:xfrm>
          <a:prstGeom prst="rect">
            <a:avLst/>
          </a:prstGeom>
          <a:solidFill>
            <a:srgbClr val="BFBFBF">
              <a:alpha val="29804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B8E86F8-C10E-8447-8B4C-581ED6C97669}"/>
              </a:ext>
            </a:extLst>
          </p:cNvPr>
          <p:cNvSpPr/>
          <p:nvPr/>
        </p:nvSpPr>
        <p:spPr>
          <a:xfrm>
            <a:off x="898525" y="4051300"/>
            <a:ext cx="603250" cy="130175"/>
          </a:xfrm>
          <a:prstGeom prst="rect">
            <a:avLst/>
          </a:prstGeom>
          <a:solidFill>
            <a:srgbClr val="BFBFBF">
              <a:alpha val="29804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3A4196C-0066-794D-83B8-B60B52B06038}"/>
              </a:ext>
            </a:extLst>
          </p:cNvPr>
          <p:cNvSpPr/>
          <p:nvPr/>
        </p:nvSpPr>
        <p:spPr>
          <a:xfrm>
            <a:off x="6245225" y="4056063"/>
            <a:ext cx="657225" cy="128587"/>
          </a:xfrm>
          <a:prstGeom prst="rect">
            <a:avLst/>
          </a:prstGeom>
          <a:solidFill>
            <a:srgbClr val="BFBFBF">
              <a:alpha val="29804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EB488E3-854F-2745-8273-6A214F95A351}"/>
              </a:ext>
            </a:extLst>
          </p:cNvPr>
          <p:cNvSpPr/>
          <p:nvPr/>
        </p:nvSpPr>
        <p:spPr>
          <a:xfrm>
            <a:off x="10136188" y="4051300"/>
            <a:ext cx="642937" cy="130175"/>
          </a:xfrm>
          <a:prstGeom prst="rect">
            <a:avLst/>
          </a:prstGeom>
          <a:solidFill>
            <a:srgbClr val="BFBFBF">
              <a:alpha val="29804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7CAF40-A7DE-B846-86EE-890C047E8A60}"/>
              </a:ext>
            </a:extLst>
          </p:cNvPr>
          <p:cNvSpPr/>
          <p:nvPr/>
        </p:nvSpPr>
        <p:spPr>
          <a:xfrm>
            <a:off x="10779125" y="4051300"/>
            <a:ext cx="436563" cy="130175"/>
          </a:xfrm>
          <a:prstGeom prst="rect">
            <a:avLst/>
          </a:prstGeom>
          <a:solidFill>
            <a:srgbClr val="BFBFBF">
              <a:alpha val="29804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675F358-6360-7D4E-8CE8-15C544007C9D}"/>
              </a:ext>
            </a:extLst>
          </p:cNvPr>
          <p:cNvCxnSpPr>
            <a:cxnSpLocks/>
          </p:cNvCxnSpPr>
          <p:nvPr/>
        </p:nvCxnSpPr>
        <p:spPr>
          <a:xfrm>
            <a:off x="10098088" y="5421313"/>
            <a:ext cx="1076325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C427A99-027D-9247-896C-2FFA5ACDCB12}"/>
              </a:ext>
            </a:extLst>
          </p:cNvPr>
          <p:cNvCxnSpPr>
            <a:cxnSpLocks/>
          </p:cNvCxnSpPr>
          <p:nvPr/>
        </p:nvCxnSpPr>
        <p:spPr>
          <a:xfrm flipH="1">
            <a:off x="257175" y="5411788"/>
            <a:ext cx="1076325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6DF25FA-FCBF-2E4A-A9AA-DF8D37C8E3E5}"/>
              </a:ext>
            </a:extLst>
          </p:cNvPr>
          <p:cNvCxnSpPr>
            <a:cxnSpLocks/>
          </p:cNvCxnSpPr>
          <p:nvPr/>
        </p:nvCxnSpPr>
        <p:spPr>
          <a:xfrm flipV="1">
            <a:off x="546100" y="2546350"/>
            <a:ext cx="0" cy="1504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0" name="TextBox 72">
            <a:extLst>
              <a:ext uri="{FF2B5EF4-FFF2-40B4-BE49-F238E27FC236}">
                <a16:creationId xmlns:a16="http://schemas.microsoft.com/office/drawing/2014/main" id="{C1F933FF-D459-B6DD-8331-B489A3FEC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8" y="2228850"/>
            <a:ext cx="2825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RPKPGGWNTGGSR (all)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74CD40-6978-9841-B361-967315FF900F}"/>
              </a:ext>
            </a:extLst>
          </p:cNvPr>
          <p:cNvCxnSpPr>
            <a:cxnSpLocks/>
          </p:cNvCxnSpPr>
          <p:nvPr/>
        </p:nvCxnSpPr>
        <p:spPr>
          <a:xfrm flipV="1">
            <a:off x="1177925" y="2954338"/>
            <a:ext cx="0" cy="10953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2" name="TextBox 74">
            <a:extLst>
              <a:ext uri="{FF2B5EF4-FFF2-40B4-BE49-F238E27FC236}">
                <a16:creationId xmlns:a16="http://schemas.microsoft.com/office/drawing/2014/main" id="{195175F6-A00B-AEBA-7136-19EE6BDE9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2644775"/>
            <a:ext cx="2528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YPGQGSPGGNR (all)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084A686-35F1-F045-91B4-E465A4652BF4}"/>
              </a:ext>
            </a:extLst>
          </p:cNvPr>
          <p:cNvCxnSpPr>
            <a:cxnSpLocks/>
          </p:cNvCxnSpPr>
          <p:nvPr/>
        </p:nvCxnSpPr>
        <p:spPr>
          <a:xfrm flipV="1">
            <a:off x="6559550" y="3502025"/>
            <a:ext cx="0" cy="5540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4" name="TextBox 78">
            <a:extLst>
              <a:ext uri="{FF2B5EF4-FFF2-40B4-BE49-F238E27FC236}">
                <a16:creationId xmlns:a16="http://schemas.microsoft.com/office/drawing/2014/main" id="{20604987-71AA-7FF5-6E76-43250B19F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75" y="3143250"/>
            <a:ext cx="2941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PIIHFGSDYEDR (human)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6F92BED-6FDC-C645-BCC2-95D213623D82}"/>
              </a:ext>
            </a:extLst>
          </p:cNvPr>
          <p:cNvCxnSpPr>
            <a:cxnSpLocks/>
          </p:cNvCxnSpPr>
          <p:nvPr/>
        </p:nvCxnSpPr>
        <p:spPr>
          <a:xfrm flipV="1">
            <a:off x="10425113" y="2513013"/>
            <a:ext cx="0" cy="1504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6" name="TextBox 80">
            <a:extLst>
              <a:ext uri="{FF2B5EF4-FFF2-40B4-BE49-F238E27FC236}">
                <a16:creationId xmlns:a16="http://schemas.microsoft.com/office/drawing/2014/main" id="{7B28F1AB-6CC0-AE5F-F6FE-FFE87100A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1619250"/>
            <a:ext cx="36306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VVEQMCITQYER (human)</a:t>
            </a:r>
            <a:b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</a:b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VVEQMCITQYEK (cynomolgus)</a:t>
            </a:r>
            <a:b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</a:b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VVEQMCVTQYQK (mouse/rat)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B283E4B-374E-4748-8A9E-320FD7DA34FB}"/>
              </a:ext>
            </a:extLst>
          </p:cNvPr>
          <p:cNvSpPr/>
          <p:nvPr/>
        </p:nvSpPr>
        <p:spPr>
          <a:xfrm>
            <a:off x="9378950" y="4056063"/>
            <a:ext cx="536575" cy="130175"/>
          </a:xfrm>
          <a:prstGeom prst="rect">
            <a:avLst/>
          </a:prstGeom>
          <a:solidFill>
            <a:srgbClr val="BFBFBF">
              <a:alpha val="29804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B767AB3-3F53-AE49-942C-C0A20812D4B3}"/>
              </a:ext>
            </a:extLst>
          </p:cNvPr>
          <p:cNvCxnSpPr>
            <a:cxnSpLocks/>
          </p:cNvCxnSpPr>
          <p:nvPr/>
        </p:nvCxnSpPr>
        <p:spPr>
          <a:xfrm flipV="1">
            <a:off x="9632950" y="3143250"/>
            <a:ext cx="0" cy="8747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9" name="TextBox 86">
            <a:extLst>
              <a:ext uri="{FF2B5EF4-FFF2-40B4-BE49-F238E27FC236}">
                <a16:creationId xmlns:a16="http://schemas.microsoft.com/office/drawing/2014/main" id="{CC18904B-4D82-A441-AC86-F67373C4D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300" y="2765425"/>
            <a:ext cx="2390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GENFTETDVK (all)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6E38E75-9EAE-324F-BFCA-0BDBC55B67B7}"/>
              </a:ext>
            </a:extLst>
          </p:cNvPr>
          <p:cNvCxnSpPr>
            <a:cxnSpLocks/>
          </p:cNvCxnSpPr>
          <p:nvPr/>
        </p:nvCxnSpPr>
        <p:spPr>
          <a:xfrm flipV="1">
            <a:off x="10915650" y="1325563"/>
            <a:ext cx="0" cy="26828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51" name="TextBox 90">
            <a:extLst>
              <a:ext uri="{FF2B5EF4-FFF2-40B4-BE49-F238E27FC236}">
                <a16:creationId xmlns:a16="http://schemas.microsoft.com/office/drawing/2014/main" id="{EDEC8D72-2247-9C74-71B9-661125206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313" y="674688"/>
            <a:ext cx="3908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ESQAYYQR (human/cynomolgus)</a:t>
            </a:r>
            <a:b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</a:br>
            <a:r>
              <a:rPr lang="en-US" altLang="en-US" sz="1800" b="1">
                <a:latin typeface="Andale Mono" panose="020B0509000000000004" pitchFamily="49" charset="0"/>
                <a:cs typeface="Arial" panose="020B0604020202020204" pitchFamily="34" charset="0"/>
              </a:rPr>
              <a:t>ESQAYYDGR (mouse/rat)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nip Same Side Corner Rectangle 217">
            <a:extLst>
              <a:ext uri="{FF2B5EF4-FFF2-40B4-BE49-F238E27FC236}">
                <a16:creationId xmlns:a16="http://schemas.microsoft.com/office/drawing/2014/main" id="{C743D9BE-8A46-5E4D-8279-29139893420A}"/>
              </a:ext>
            </a:extLst>
          </p:cNvPr>
          <p:cNvSpPr/>
          <p:nvPr/>
        </p:nvSpPr>
        <p:spPr>
          <a:xfrm rot="10800000">
            <a:off x="941388" y="2836863"/>
            <a:ext cx="482600" cy="1322387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19" name="Freeform 218">
            <a:extLst>
              <a:ext uri="{FF2B5EF4-FFF2-40B4-BE49-F238E27FC236}">
                <a16:creationId xmlns:a16="http://schemas.microsoft.com/office/drawing/2014/main" id="{0A0C4B59-7EE0-904A-924D-A36066D2A925}"/>
              </a:ext>
            </a:extLst>
          </p:cNvPr>
          <p:cNvSpPr/>
          <p:nvPr/>
        </p:nvSpPr>
        <p:spPr>
          <a:xfrm>
            <a:off x="1071563" y="3627438"/>
            <a:ext cx="222250" cy="296862"/>
          </a:xfrm>
          <a:custGeom>
            <a:avLst/>
            <a:gdLst>
              <a:gd name="connsiteX0" fmla="*/ 481913 w 655163"/>
              <a:gd name="connsiteY0" fmla="*/ 668686 h 681043"/>
              <a:gd name="connsiteX1" fmla="*/ 420129 w 655163"/>
              <a:gd name="connsiteY1" fmla="*/ 681043 h 681043"/>
              <a:gd name="connsiteX2" fmla="*/ 271848 w 655163"/>
              <a:gd name="connsiteY2" fmla="*/ 656330 h 681043"/>
              <a:gd name="connsiteX3" fmla="*/ 234778 w 655163"/>
              <a:gd name="connsiteY3" fmla="*/ 631616 h 681043"/>
              <a:gd name="connsiteX4" fmla="*/ 172994 w 655163"/>
              <a:gd name="connsiteY4" fmla="*/ 520405 h 681043"/>
              <a:gd name="connsiteX5" fmla="*/ 271848 w 655163"/>
              <a:gd name="connsiteY5" fmla="*/ 495692 h 681043"/>
              <a:gd name="connsiteX6" fmla="*/ 222421 w 655163"/>
              <a:gd name="connsiteY6" fmla="*/ 520405 h 681043"/>
              <a:gd name="connsiteX7" fmla="*/ 172994 w 655163"/>
              <a:gd name="connsiteY7" fmla="*/ 532762 h 681043"/>
              <a:gd name="connsiteX8" fmla="*/ 98854 w 655163"/>
              <a:gd name="connsiteY8" fmla="*/ 508048 h 681043"/>
              <a:gd name="connsiteX9" fmla="*/ 0 w 655163"/>
              <a:gd name="connsiteY9" fmla="*/ 335054 h 681043"/>
              <a:gd name="connsiteX10" fmla="*/ 12356 w 655163"/>
              <a:gd name="connsiteY10" fmla="*/ 199130 h 681043"/>
              <a:gd name="connsiteX11" fmla="*/ 24713 w 655163"/>
              <a:gd name="connsiteY11" fmla="*/ 162059 h 681043"/>
              <a:gd name="connsiteX12" fmla="*/ 37070 w 655163"/>
              <a:gd name="connsiteY12" fmla="*/ 100275 h 681043"/>
              <a:gd name="connsiteX13" fmla="*/ 123567 w 655163"/>
              <a:gd name="connsiteY13" fmla="*/ 13778 h 681043"/>
              <a:gd name="connsiteX14" fmla="*/ 160637 w 655163"/>
              <a:gd name="connsiteY14" fmla="*/ 1421 h 681043"/>
              <a:gd name="connsiteX15" fmla="*/ 247135 w 655163"/>
              <a:gd name="connsiteY15" fmla="*/ 13778 h 681043"/>
              <a:gd name="connsiteX16" fmla="*/ 234778 w 655163"/>
              <a:gd name="connsiteY16" fmla="*/ 112632 h 681043"/>
              <a:gd name="connsiteX17" fmla="*/ 222421 w 655163"/>
              <a:gd name="connsiteY17" fmla="*/ 162059 h 681043"/>
              <a:gd name="connsiteX18" fmla="*/ 210064 w 655163"/>
              <a:gd name="connsiteY18" fmla="*/ 236200 h 681043"/>
              <a:gd name="connsiteX19" fmla="*/ 383059 w 655163"/>
              <a:gd name="connsiteY19" fmla="*/ 260913 h 681043"/>
              <a:gd name="connsiteX20" fmla="*/ 432486 w 655163"/>
              <a:gd name="connsiteY20" fmla="*/ 273270 h 681043"/>
              <a:gd name="connsiteX21" fmla="*/ 469556 w 655163"/>
              <a:gd name="connsiteY21" fmla="*/ 297984 h 681043"/>
              <a:gd name="connsiteX22" fmla="*/ 506627 w 655163"/>
              <a:gd name="connsiteY22" fmla="*/ 310340 h 681043"/>
              <a:gd name="connsiteX23" fmla="*/ 481913 w 655163"/>
              <a:gd name="connsiteY23" fmla="*/ 409194 h 681043"/>
              <a:gd name="connsiteX24" fmla="*/ 580767 w 655163"/>
              <a:gd name="connsiteY24" fmla="*/ 421551 h 681043"/>
              <a:gd name="connsiteX25" fmla="*/ 593124 w 655163"/>
              <a:gd name="connsiteY25" fmla="*/ 458621 h 681043"/>
              <a:gd name="connsiteX26" fmla="*/ 630194 w 655163"/>
              <a:gd name="connsiteY26" fmla="*/ 470978 h 681043"/>
              <a:gd name="connsiteX27" fmla="*/ 654908 w 655163"/>
              <a:gd name="connsiteY27" fmla="*/ 508048 h 681043"/>
              <a:gd name="connsiteX28" fmla="*/ 642551 w 655163"/>
              <a:gd name="connsiteY28" fmla="*/ 545119 h 681043"/>
              <a:gd name="connsiteX29" fmla="*/ 642551 w 655163"/>
              <a:gd name="connsiteY29" fmla="*/ 569832 h 68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55163" h="681043">
                <a:moveTo>
                  <a:pt x="481913" y="668686"/>
                </a:moveTo>
                <a:cubicBezTo>
                  <a:pt x="461318" y="672805"/>
                  <a:pt x="441132" y="681043"/>
                  <a:pt x="420129" y="681043"/>
                </a:cubicBezTo>
                <a:cubicBezTo>
                  <a:pt x="337361" y="681043"/>
                  <a:pt x="329849" y="675663"/>
                  <a:pt x="271848" y="656330"/>
                </a:cubicBezTo>
                <a:cubicBezTo>
                  <a:pt x="259491" y="648092"/>
                  <a:pt x="244557" y="642793"/>
                  <a:pt x="234778" y="631616"/>
                </a:cubicBezTo>
                <a:cubicBezTo>
                  <a:pt x="189021" y="579322"/>
                  <a:pt x="189966" y="571320"/>
                  <a:pt x="172994" y="520405"/>
                </a:cubicBezTo>
                <a:cubicBezTo>
                  <a:pt x="188214" y="497575"/>
                  <a:pt x="222522" y="421701"/>
                  <a:pt x="271848" y="495692"/>
                </a:cubicBezTo>
                <a:cubicBezTo>
                  <a:pt x="282066" y="511019"/>
                  <a:pt x="239668" y="513937"/>
                  <a:pt x="222421" y="520405"/>
                </a:cubicBezTo>
                <a:cubicBezTo>
                  <a:pt x="206520" y="526368"/>
                  <a:pt x="189470" y="528643"/>
                  <a:pt x="172994" y="532762"/>
                </a:cubicBezTo>
                <a:cubicBezTo>
                  <a:pt x="148281" y="524524"/>
                  <a:pt x="118866" y="524725"/>
                  <a:pt x="98854" y="508048"/>
                </a:cubicBezTo>
                <a:cubicBezTo>
                  <a:pt x="29798" y="450501"/>
                  <a:pt x="24637" y="408965"/>
                  <a:pt x="0" y="335054"/>
                </a:cubicBezTo>
                <a:cubicBezTo>
                  <a:pt x="4119" y="289746"/>
                  <a:pt x="5922" y="244168"/>
                  <a:pt x="12356" y="199130"/>
                </a:cubicBezTo>
                <a:cubicBezTo>
                  <a:pt x="14198" y="186235"/>
                  <a:pt x="21554" y="174696"/>
                  <a:pt x="24713" y="162059"/>
                </a:cubicBezTo>
                <a:cubicBezTo>
                  <a:pt x="29807" y="141684"/>
                  <a:pt x="28540" y="119467"/>
                  <a:pt x="37070" y="100275"/>
                </a:cubicBezTo>
                <a:cubicBezTo>
                  <a:pt x="52494" y="65570"/>
                  <a:pt x="91667" y="32007"/>
                  <a:pt x="123567" y="13778"/>
                </a:cubicBezTo>
                <a:cubicBezTo>
                  <a:pt x="134876" y="7316"/>
                  <a:pt x="148280" y="5540"/>
                  <a:pt x="160637" y="1421"/>
                </a:cubicBezTo>
                <a:cubicBezTo>
                  <a:pt x="189470" y="5540"/>
                  <a:pt x="230979" y="-10456"/>
                  <a:pt x="247135" y="13778"/>
                </a:cubicBezTo>
                <a:cubicBezTo>
                  <a:pt x="265555" y="41409"/>
                  <a:pt x="240237" y="79876"/>
                  <a:pt x="234778" y="112632"/>
                </a:cubicBezTo>
                <a:cubicBezTo>
                  <a:pt x="231986" y="129384"/>
                  <a:pt x="225752" y="145406"/>
                  <a:pt x="222421" y="162059"/>
                </a:cubicBezTo>
                <a:cubicBezTo>
                  <a:pt x="217507" y="186627"/>
                  <a:pt x="214183" y="211486"/>
                  <a:pt x="210064" y="236200"/>
                </a:cubicBezTo>
                <a:cubicBezTo>
                  <a:pt x="299338" y="265958"/>
                  <a:pt x="202577" y="236849"/>
                  <a:pt x="383059" y="260913"/>
                </a:cubicBezTo>
                <a:cubicBezTo>
                  <a:pt x="399893" y="263157"/>
                  <a:pt x="416010" y="269151"/>
                  <a:pt x="432486" y="273270"/>
                </a:cubicBezTo>
                <a:cubicBezTo>
                  <a:pt x="444843" y="281508"/>
                  <a:pt x="456273" y="291343"/>
                  <a:pt x="469556" y="297984"/>
                </a:cubicBezTo>
                <a:cubicBezTo>
                  <a:pt x="481206" y="303809"/>
                  <a:pt x="502508" y="297983"/>
                  <a:pt x="506627" y="310340"/>
                </a:cubicBezTo>
                <a:cubicBezTo>
                  <a:pt x="511598" y="325251"/>
                  <a:pt x="488581" y="389189"/>
                  <a:pt x="481913" y="409194"/>
                </a:cubicBezTo>
                <a:cubicBezTo>
                  <a:pt x="514864" y="413313"/>
                  <a:pt x="550421" y="408064"/>
                  <a:pt x="580767" y="421551"/>
                </a:cubicBezTo>
                <a:cubicBezTo>
                  <a:pt x="592669" y="426841"/>
                  <a:pt x="583914" y="449411"/>
                  <a:pt x="593124" y="458621"/>
                </a:cubicBezTo>
                <a:cubicBezTo>
                  <a:pt x="602334" y="467831"/>
                  <a:pt x="617837" y="466859"/>
                  <a:pt x="630194" y="470978"/>
                </a:cubicBezTo>
                <a:cubicBezTo>
                  <a:pt x="638432" y="483335"/>
                  <a:pt x="652466" y="493399"/>
                  <a:pt x="654908" y="508048"/>
                </a:cubicBezTo>
                <a:cubicBezTo>
                  <a:pt x="657049" y="520896"/>
                  <a:pt x="645106" y="532347"/>
                  <a:pt x="642551" y="545119"/>
                </a:cubicBezTo>
                <a:cubicBezTo>
                  <a:pt x="640935" y="553197"/>
                  <a:pt x="642551" y="561594"/>
                  <a:pt x="642551" y="569832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0" name="Snip Same Side Corner Rectangle 219">
            <a:extLst>
              <a:ext uri="{FF2B5EF4-FFF2-40B4-BE49-F238E27FC236}">
                <a16:creationId xmlns:a16="http://schemas.microsoft.com/office/drawing/2014/main" id="{9231C69B-9591-1142-8DCE-A68C2C6E32A5}"/>
              </a:ext>
            </a:extLst>
          </p:cNvPr>
          <p:cNvSpPr/>
          <p:nvPr/>
        </p:nvSpPr>
        <p:spPr>
          <a:xfrm rot="10800000">
            <a:off x="1757363" y="2836863"/>
            <a:ext cx="481012" cy="1322387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1" name="Freeform 220">
            <a:extLst>
              <a:ext uri="{FF2B5EF4-FFF2-40B4-BE49-F238E27FC236}">
                <a16:creationId xmlns:a16="http://schemas.microsoft.com/office/drawing/2014/main" id="{5E5664BE-D286-194E-BB00-03925E969AA7}"/>
              </a:ext>
            </a:extLst>
          </p:cNvPr>
          <p:cNvSpPr/>
          <p:nvPr/>
        </p:nvSpPr>
        <p:spPr>
          <a:xfrm>
            <a:off x="1885950" y="3627438"/>
            <a:ext cx="223838" cy="296862"/>
          </a:xfrm>
          <a:custGeom>
            <a:avLst/>
            <a:gdLst>
              <a:gd name="connsiteX0" fmla="*/ 481913 w 655163"/>
              <a:gd name="connsiteY0" fmla="*/ 668686 h 681043"/>
              <a:gd name="connsiteX1" fmla="*/ 420129 w 655163"/>
              <a:gd name="connsiteY1" fmla="*/ 681043 h 681043"/>
              <a:gd name="connsiteX2" fmla="*/ 271848 w 655163"/>
              <a:gd name="connsiteY2" fmla="*/ 656330 h 681043"/>
              <a:gd name="connsiteX3" fmla="*/ 234778 w 655163"/>
              <a:gd name="connsiteY3" fmla="*/ 631616 h 681043"/>
              <a:gd name="connsiteX4" fmla="*/ 172994 w 655163"/>
              <a:gd name="connsiteY4" fmla="*/ 520405 h 681043"/>
              <a:gd name="connsiteX5" fmla="*/ 271848 w 655163"/>
              <a:gd name="connsiteY5" fmla="*/ 495692 h 681043"/>
              <a:gd name="connsiteX6" fmla="*/ 222421 w 655163"/>
              <a:gd name="connsiteY6" fmla="*/ 520405 h 681043"/>
              <a:gd name="connsiteX7" fmla="*/ 172994 w 655163"/>
              <a:gd name="connsiteY7" fmla="*/ 532762 h 681043"/>
              <a:gd name="connsiteX8" fmla="*/ 98854 w 655163"/>
              <a:gd name="connsiteY8" fmla="*/ 508048 h 681043"/>
              <a:gd name="connsiteX9" fmla="*/ 0 w 655163"/>
              <a:gd name="connsiteY9" fmla="*/ 335054 h 681043"/>
              <a:gd name="connsiteX10" fmla="*/ 12356 w 655163"/>
              <a:gd name="connsiteY10" fmla="*/ 199130 h 681043"/>
              <a:gd name="connsiteX11" fmla="*/ 24713 w 655163"/>
              <a:gd name="connsiteY11" fmla="*/ 162059 h 681043"/>
              <a:gd name="connsiteX12" fmla="*/ 37070 w 655163"/>
              <a:gd name="connsiteY12" fmla="*/ 100275 h 681043"/>
              <a:gd name="connsiteX13" fmla="*/ 123567 w 655163"/>
              <a:gd name="connsiteY13" fmla="*/ 13778 h 681043"/>
              <a:gd name="connsiteX14" fmla="*/ 160637 w 655163"/>
              <a:gd name="connsiteY14" fmla="*/ 1421 h 681043"/>
              <a:gd name="connsiteX15" fmla="*/ 247135 w 655163"/>
              <a:gd name="connsiteY15" fmla="*/ 13778 h 681043"/>
              <a:gd name="connsiteX16" fmla="*/ 234778 w 655163"/>
              <a:gd name="connsiteY16" fmla="*/ 112632 h 681043"/>
              <a:gd name="connsiteX17" fmla="*/ 222421 w 655163"/>
              <a:gd name="connsiteY17" fmla="*/ 162059 h 681043"/>
              <a:gd name="connsiteX18" fmla="*/ 210064 w 655163"/>
              <a:gd name="connsiteY18" fmla="*/ 236200 h 681043"/>
              <a:gd name="connsiteX19" fmla="*/ 383059 w 655163"/>
              <a:gd name="connsiteY19" fmla="*/ 260913 h 681043"/>
              <a:gd name="connsiteX20" fmla="*/ 432486 w 655163"/>
              <a:gd name="connsiteY20" fmla="*/ 273270 h 681043"/>
              <a:gd name="connsiteX21" fmla="*/ 469556 w 655163"/>
              <a:gd name="connsiteY21" fmla="*/ 297984 h 681043"/>
              <a:gd name="connsiteX22" fmla="*/ 506627 w 655163"/>
              <a:gd name="connsiteY22" fmla="*/ 310340 h 681043"/>
              <a:gd name="connsiteX23" fmla="*/ 481913 w 655163"/>
              <a:gd name="connsiteY23" fmla="*/ 409194 h 681043"/>
              <a:gd name="connsiteX24" fmla="*/ 580767 w 655163"/>
              <a:gd name="connsiteY24" fmla="*/ 421551 h 681043"/>
              <a:gd name="connsiteX25" fmla="*/ 593124 w 655163"/>
              <a:gd name="connsiteY25" fmla="*/ 458621 h 681043"/>
              <a:gd name="connsiteX26" fmla="*/ 630194 w 655163"/>
              <a:gd name="connsiteY26" fmla="*/ 470978 h 681043"/>
              <a:gd name="connsiteX27" fmla="*/ 654908 w 655163"/>
              <a:gd name="connsiteY27" fmla="*/ 508048 h 681043"/>
              <a:gd name="connsiteX28" fmla="*/ 642551 w 655163"/>
              <a:gd name="connsiteY28" fmla="*/ 545119 h 681043"/>
              <a:gd name="connsiteX29" fmla="*/ 642551 w 655163"/>
              <a:gd name="connsiteY29" fmla="*/ 569832 h 68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55163" h="681043">
                <a:moveTo>
                  <a:pt x="481913" y="668686"/>
                </a:moveTo>
                <a:cubicBezTo>
                  <a:pt x="461318" y="672805"/>
                  <a:pt x="441132" y="681043"/>
                  <a:pt x="420129" y="681043"/>
                </a:cubicBezTo>
                <a:cubicBezTo>
                  <a:pt x="337361" y="681043"/>
                  <a:pt x="329849" y="675663"/>
                  <a:pt x="271848" y="656330"/>
                </a:cubicBezTo>
                <a:cubicBezTo>
                  <a:pt x="259491" y="648092"/>
                  <a:pt x="244557" y="642793"/>
                  <a:pt x="234778" y="631616"/>
                </a:cubicBezTo>
                <a:cubicBezTo>
                  <a:pt x="189021" y="579322"/>
                  <a:pt x="189966" y="571320"/>
                  <a:pt x="172994" y="520405"/>
                </a:cubicBezTo>
                <a:cubicBezTo>
                  <a:pt x="188214" y="497575"/>
                  <a:pt x="222522" y="421701"/>
                  <a:pt x="271848" y="495692"/>
                </a:cubicBezTo>
                <a:cubicBezTo>
                  <a:pt x="282066" y="511019"/>
                  <a:pt x="239668" y="513937"/>
                  <a:pt x="222421" y="520405"/>
                </a:cubicBezTo>
                <a:cubicBezTo>
                  <a:pt x="206520" y="526368"/>
                  <a:pt x="189470" y="528643"/>
                  <a:pt x="172994" y="532762"/>
                </a:cubicBezTo>
                <a:cubicBezTo>
                  <a:pt x="148281" y="524524"/>
                  <a:pt x="118866" y="524725"/>
                  <a:pt x="98854" y="508048"/>
                </a:cubicBezTo>
                <a:cubicBezTo>
                  <a:pt x="29798" y="450501"/>
                  <a:pt x="24637" y="408965"/>
                  <a:pt x="0" y="335054"/>
                </a:cubicBezTo>
                <a:cubicBezTo>
                  <a:pt x="4119" y="289746"/>
                  <a:pt x="5922" y="244168"/>
                  <a:pt x="12356" y="199130"/>
                </a:cubicBezTo>
                <a:cubicBezTo>
                  <a:pt x="14198" y="186235"/>
                  <a:pt x="21554" y="174696"/>
                  <a:pt x="24713" y="162059"/>
                </a:cubicBezTo>
                <a:cubicBezTo>
                  <a:pt x="29807" y="141684"/>
                  <a:pt x="28540" y="119467"/>
                  <a:pt x="37070" y="100275"/>
                </a:cubicBezTo>
                <a:cubicBezTo>
                  <a:pt x="52494" y="65570"/>
                  <a:pt x="91667" y="32007"/>
                  <a:pt x="123567" y="13778"/>
                </a:cubicBezTo>
                <a:cubicBezTo>
                  <a:pt x="134876" y="7316"/>
                  <a:pt x="148280" y="5540"/>
                  <a:pt x="160637" y="1421"/>
                </a:cubicBezTo>
                <a:cubicBezTo>
                  <a:pt x="189470" y="5540"/>
                  <a:pt x="230979" y="-10456"/>
                  <a:pt x="247135" y="13778"/>
                </a:cubicBezTo>
                <a:cubicBezTo>
                  <a:pt x="265555" y="41409"/>
                  <a:pt x="240237" y="79876"/>
                  <a:pt x="234778" y="112632"/>
                </a:cubicBezTo>
                <a:cubicBezTo>
                  <a:pt x="231986" y="129384"/>
                  <a:pt x="225752" y="145406"/>
                  <a:pt x="222421" y="162059"/>
                </a:cubicBezTo>
                <a:cubicBezTo>
                  <a:pt x="217507" y="186627"/>
                  <a:pt x="214183" y="211486"/>
                  <a:pt x="210064" y="236200"/>
                </a:cubicBezTo>
                <a:cubicBezTo>
                  <a:pt x="299338" y="265958"/>
                  <a:pt x="202577" y="236849"/>
                  <a:pt x="383059" y="260913"/>
                </a:cubicBezTo>
                <a:cubicBezTo>
                  <a:pt x="399893" y="263157"/>
                  <a:pt x="416010" y="269151"/>
                  <a:pt x="432486" y="273270"/>
                </a:cubicBezTo>
                <a:cubicBezTo>
                  <a:pt x="444843" y="281508"/>
                  <a:pt x="456273" y="291343"/>
                  <a:pt x="469556" y="297984"/>
                </a:cubicBezTo>
                <a:cubicBezTo>
                  <a:pt x="481206" y="303809"/>
                  <a:pt x="502508" y="297983"/>
                  <a:pt x="506627" y="310340"/>
                </a:cubicBezTo>
                <a:cubicBezTo>
                  <a:pt x="511598" y="325251"/>
                  <a:pt x="488581" y="389189"/>
                  <a:pt x="481913" y="409194"/>
                </a:cubicBezTo>
                <a:cubicBezTo>
                  <a:pt x="514864" y="413313"/>
                  <a:pt x="550421" y="408064"/>
                  <a:pt x="580767" y="421551"/>
                </a:cubicBezTo>
                <a:cubicBezTo>
                  <a:pt x="592669" y="426841"/>
                  <a:pt x="583914" y="449411"/>
                  <a:pt x="593124" y="458621"/>
                </a:cubicBezTo>
                <a:cubicBezTo>
                  <a:pt x="602334" y="467831"/>
                  <a:pt x="617837" y="466859"/>
                  <a:pt x="630194" y="470978"/>
                </a:cubicBezTo>
                <a:cubicBezTo>
                  <a:pt x="638432" y="483335"/>
                  <a:pt x="652466" y="493399"/>
                  <a:pt x="654908" y="508048"/>
                </a:cubicBezTo>
                <a:cubicBezTo>
                  <a:pt x="657049" y="520896"/>
                  <a:pt x="645106" y="532347"/>
                  <a:pt x="642551" y="545119"/>
                </a:cubicBezTo>
                <a:cubicBezTo>
                  <a:pt x="640935" y="553197"/>
                  <a:pt x="642551" y="561594"/>
                  <a:pt x="642551" y="569832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2" name="Freeform 221">
            <a:extLst>
              <a:ext uri="{FF2B5EF4-FFF2-40B4-BE49-F238E27FC236}">
                <a16:creationId xmlns:a16="http://schemas.microsoft.com/office/drawing/2014/main" id="{2BC8B65F-C7AB-3149-B506-4B494B9D103A}"/>
              </a:ext>
            </a:extLst>
          </p:cNvPr>
          <p:cNvSpPr/>
          <p:nvPr/>
        </p:nvSpPr>
        <p:spPr>
          <a:xfrm>
            <a:off x="1885950" y="3219450"/>
            <a:ext cx="223838" cy="296863"/>
          </a:xfrm>
          <a:custGeom>
            <a:avLst/>
            <a:gdLst>
              <a:gd name="connsiteX0" fmla="*/ 481913 w 655163"/>
              <a:gd name="connsiteY0" fmla="*/ 668686 h 681043"/>
              <a:gd name="connsiteX1" fmla="*/ 420129 w 655163"/>
              <a:gd name="connsiteY1" fmla="*/ 681043 h 681043"/>
              <a:gd name="connsiteX2" fmla="*/ 271848 w 655163"/>
              <a:gd name="connsiteY2" fmla="*/ 656330 h 681043"/>
              <a:gd name="connsiteX3" fmla="*/ 234778 w 655163"/>
              <a:gd name="connsiteY3" fmla="*/ 631616 h 681043"/>
              <a:gd name="connsiteX4" fmla="*/ 172994 w 655163"/>
              <a:gd name="connsiteY4" fmla="*/ 520405 h 681043"/>
              <a:gd name="connsiteX5" fmla="*/ 271848 w 655163"/>
              <a:gd name="connsiteY5" fmla="*/ 495692 h 681043"/>
              <a:gd name="connsiteX6" fmla="*/ 222421 w 655163"/>
              <a:gd name="connsiteY6" fmla="*/ 520405 h 681043"/>
              <a:gd name="connsiteX7" fmla="*/ 172994 w 655163"/>
              <a:gd name="connsiteY7" fmla="*/ 532762 h 681043"/>
              <a:gd name="connsiteX8" fmla="*/ 98854 w 655163"/>
              <a:gd name="connsiteY8" fmla="*/ 508048 h 681043"/>
              <a:gd name="connsiteX9" fmla="*/ 0 w 655163"/>
              <a:gd name="connsiteY9" fmla="*/ 335054 h 681043"/>
              <a:gd name="connsiteX10" fmla="*/ 12356 w 655163"/>
              <a:gd name="connsiteY10" fmla="*/ 199130 h 681043"/>
              <a:gd name="connsiteX11" fmla="*/ 24713 w 655163"/>
              <a:gd name="connsiteY11" fmla="*/ 162059 h 681043"/>
              <a:gd name="connsiteX12" fmla="*/ 37070 w 655163"/>
              <a:gd name="connsiteY12" fmla="*/ 100275 h 681043"/>
              <a:gd name="connsiteX13" fmla="*/ 123567 w 655163"/>
              <a:gd name="connsiteY13" fmla="*/ 13778 h 681043"/>
              <a:gd name="connsiteX14" fmla="*/ 160637 w 655163"/>
              <a:gd name="connsiteY14" fmla="*/ 1421 h 681043"/>
              <a:gd name="connsiteX15" fmla="*/ 247135 w 655163"/>
              <a:gd name="connsiteY15" fmla="*/ 13778 h 681043"/>
              <a:gd name="connsiteX16" fmla="*/ 234778 w 655163"/>
              <a:gd name="connsiteY16" fmla="*/ 112632 h 681043"/>
              <a:gd name="connsiteX17" fmla="*/ 222421 w 655163"/>
              <a:gd name="connsiteY17" fmla="*/ 162059 h 681043"/>
              <a:gd name="connsiteX18" fmla="*/ 210064 w 655163"/>
              <a:gd name="connsiteY18" fmla="*/ 236200 h 681043"/>
              <a:gd name="connsiteX19" fmla="*/ 383059 w 655163"/>
              <a:gd name="connsiteY19" fmla="*/ 260913 h 681043"/>
              <a:gd name="connsiteX20" fmla="*/ 432486 w 655163"/>
              <a:gd name="connsiteY20" fmla="*/ 273270 h 681043"/>
              <a:gd name="connsiteX21" fmla="*/ 469556 w 655163"/>
              <a:gd name="connsiteY21" fmla="*/ 297984 h 681043"/>
              <a:gd name="connsiteX22" fmla="*/ 506627 w 655163"/>
              <a:gd name="connsiteY22" fmla="*/ 310340 h 681043"/>
              <a:gd name="connsiteX23" fmla="*/ 481913 w 655163"/>
              <a:gd name="connsiteY23" fmla="*/ 409194 h 681043"/>
              <a:gd name="connsiteX24" fmla="*/ 580767 w 655163"/>
              <a:gd name="connsiteY24" fmla="*/ 421551 h 681043"/>
              <a:gd name="connsiteX25" fmla="*/ 593124 w 655163"/>
              <a:gd name="connsiteY25" fmla="*/ 458621 h 681043"/>
              <a:gd name="connsiteX26" fmla="*/ 630194 w 655163"/>
              <a:gd name="connsiteY26" fmla="*/ 470978 h 681043"/>
              <a:gd name="connsiteX27" fmla="*/ 654908 w 655163"/>
              <a:gd name="connsiteY27" fmla="*/ 508048 h 681043"/>
              <a:gd name="connsiteX28" fmla="*/ 642551 w 655163"/>
              <a:gd name="connsiteY28" fmla="*/ 545119 h 681043"/>
              <a:gd name="connsiteX29" fmla="*/ 642551 w 655163"/>
              <a:gd name="connsiteY29" fmla="*/ 569832 h 68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55163" h="681043">
                <a:moveTo>
                  <a:pt x="481913" y="668686"/>
                </a:moveTo>
                <a:cubicBezTo>
                  <a:pt x="461318" y="672805"/>
                  <a:pt x="441132" y="681043"/>
                  <a:pt x="420129" y="681043"/>
                </a:cubicBezTo>
                <a:cubicBezTo>
                  <a:pt x="337361" y="681043"/>
                  <a:pt x="329849" y="675663"/>
                  <a:pt x="271848" y="656330"/>
                </a:cubicBezTo>
                <a:cubicBezTo>
                  <a:pt x="259491" y="648092"/>
                  <a:pt x="244557" y="642793"/>
                  <a:pt x="234778" y="631616"/>
                </a:cubicBezTo>
                <a:cubicBezTo>
                  <a:pt x="189021" y="579322"/>
                  <a:pt x="189966" y="571320"/>
                  <a:pt x="172994" y="520405"/>
                </a:cubicBezTo>
                <a:cubicBezTo>
                  <a:pt x="188214" y="497575"/>
                  <a:pt x="222522" y="421701"/>
                  <a:pt x="271848" y="495692"/>
                </a:cubicBezTo>
                <a:cubicBezTo>
                  <a:pt x="282066" y="511019"/>
                  <a:pt x="239668" y="513937"/>
                  <a:pt x="222421" y="520405"/>
                </a:cubicBezTo>
                <a:cubicBezTo>
                  <a:pt x="206520" y="526368"/>
                  <a:pt x="189470" y="528643"/>
                  <a:pt x="172994" y="532762"/>
                </a:cubicBezTo>
                <a:cubicBezTo>
                  <a:pt x="148281" y="524524"/>
                  <a:pt x="118866" y="524725"/>
                  <a:pt x="98854" y="508048"/>
                </a:cubicBezTo>
                <a:cubicBezTo>
                  <a:pt x="29798" y="450501"/>
                  <a:pt x="24637" y="408965"/>
                  <a:pt x="0" y="335054"/>
                </a:cubicBezTo>
                <a:cubicBezTo>
                  <a:pt x="4119" y="289746"/>
                  <a:pt x="5922" y="244168"/>
                  <a:pt x="12356" y="199130"/>
                </a:cubicBezTo>
                <a:cubicBezTo>
                  <a:pt x="14198" y="186235"/>
                  <a:pt x="21554" y="174696"/>
                  <a:pt x="24713" y="162059"/>
                </a:cubicBezTo>
                <a:cubicBezTo>
                  <a:pt x="29807" y="141684"/>
                  <a:pt x="28540" y="119467"/>
                  <a:pt x="37070" y="100275"/>
                </a:cubicBezTo>
                <a:cubicBezTo>
                  <a:pt x="52494" y="65570"/>
                  <a:pt x="91667" y="32007"/>
                  <a:pt x="123567" y="13778"/>
                </a:cubicBezTo>
                <a:cubicBezTo>
                  <a:pt x="134876" y="7316"/>
                  <a:pt x="148280" y="5540"/>
                  <a:pt x="160637" y="1421"/>
                </a:cubicBezTo>
                <a:cubicBezTo>
                  <a:pt x="189470" y="5540"/>
                  <a:pt x="230979" y="-10456"/>
                  <a:pt x="247135" y="13778"/>
                </a:cubicBezTo>
                <a:cubicBezTo>
                  <a:pt x="265555" y="41409"/>
                  <a:pt x="240237" y="79876"/>
                  <a:pt x="234778" y="112632"/>
                </a:cubicBezTo>
                <a:cubicBezTo>
                  <a:pt x="231986" y="129384"/>
                  <a:pt x="225752" y="145406"/>
                  <a:pt x="222421" y="162059"/>
                </a:cubicBezTo>
                <a:cubicBezTo>
                  <a:pt x="217507" y="186627"/>
                  <a:pt x="214183" y="211486"/>
                  <a:pt x="210064" y="236200"/>
                </a:cubicBezTo>
                <a:cubicBezTo>
                  <a:pt x="299338" y="265958"/>
                  <a:pt x="202577" y="236849"/>
                  <a:pt x="383059" y="260913"/>
                </a:cubicBezTo>
                <a:cubicBezTo>
                  <a:pt x="399893" y="263157"/>
                  <a:pt x="416010" y="269151"/>
                  <a:pt x="432486" y="273270"/>
                </a:cubicBezTo>
                <a:cubicBezTo>
                  <a:pt x="444843" y="281508"/>
                  <a:pt x="456273" y="291343"/>
                  <a:pt x="469556" y="297984"/>
                </a:cubicBezTo>
                <a:cubicBezTo>
                  <a:pt x="481206" y="303809"/>
                  <a:pt x="502508" y="297983"/>
                  <a:pt x="506627" y="310340"/>
                </a:cubicBezTo>
                <a:cubicBezTo>
                  <a:pt x="511598" y="325251"/>
                  <a:pt x="488581" y="389189"/>
                  <a:pt x="481913" y="409194"/>
                </a:cubicBezTo>
                <a:cubicBezTo>
                  <a:pt x="514864" y="413313"/>
                  <a:pt x="550421" y="408064"/>
                  <a:pt x="580767" y="421551"/>
                </a:cubicBezTo>
                <a:cubicBezTo>
                  <a:pt x="592669" y="426841"/>
                  <a:pt x="583914" y="449411"/>
                  <a:pt x="593124" y="458621"/>
                </a:cubicBezTo>
                <a:cubicBezTo>
                  <a:pt x="602334" y="467831"/>
                  <a:pt x="617837" y="466859"/>
                  <a:pt x="630194" y="470978"/>
                </a:cubicBezTo>
                <a:cubicBezTo>
                  <a:pt x="638432" y="483335"/>
                  <a:pt x="652466" y="493399"/>
                  <a:pt x="654908" y="508048"/>
                </a:cubicBezTo>
                <a:cubicBezTo>
                  <a:pt x="657049" y="520896"/>
                  <a:pt x="645106" y="532347"/>
                  <a:pt x="642551" y="545119"/>
                </a:cubicBezTo>
                <a:cubicBezTo>
                  <a:pt x="640935" y="553197"/>
                  <a:pt x="642551" y="561594"/>
                  <a:pt x="642551" y="569832"/>
                </a:cubicBez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3" name="Snip Same Side Corner Rectangle 222">
            <a:extLst>
              <a:ext uri="{FF2B5EF4-FFF2-40B4-BE49-F238E27FC236}">
                <a16:creationId xmlns:a16="http://schemas.microsoft.com/office/drawing/2014/main" id="{CE7C1B57-3417-7F44-AC78-5BBD57E6FCDB}"/>
              </a:ext>
            </a:extLst>
          </p:cNvPr>
          <p:cNvSpPr/>
          <p:nvPr/>
        </p:nvSpPr>
        <p:spPr>
          <a:xfrm rot="10800000">
            <a:off x="3321050" y="2855913"/>
            <a:ext cx="481013" cy="1322387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D906720E-2BDC-0641-956C-73271D074F74}"/>
              </a:ext>
            </a:extLst>
          </p:cNvPr>
          <p:cNvSpPr/>
          <p:nvPr/>
        </p:nvSpPr>
        <p:spPr>
          <a:xfrm>
            <a:off x="3406775" y="3248025"/>
            <a:ext cx="68263" cy="771525"/>
          </a:xfrm>
          <a:custGeom>
            <a:avLst/>
            <a:gdLst>
              <a:gd name="connsiteX0" fmla="*/ 37070 w 61783"/>
              <a:gd name="connsiteY0" fmla="*/ 0 h 902043"/>
              <a:gd name="connsiteX1" fmla="*/ 24713 w 61783"/>
              <a:gd name="connsiteY1" fmla="*/ 148281 h 902043"/>
              <a:gd name="connsiteX2" fmla="*/ 0 w 61783"/>
              <a:gd name="connsiteY2" fmla="*/ 308919 h 902043"/>
              <a:gd name="connsiteX3" fmla="*/ 37070 w 61783"/>
              <a:gd name="connsiteY3" fmla="*/ 469557 h 902043"/>
              <a:gd name="connsiteX4" fmla="*/ 49427 w 61783"/>
              <a:gd name="connsiteY4" fmla="*/ 506627 h 902043"/>
              <a:gd name="connsiteX5" fmla="*/ 61783 w 61783"/>
              <a:gd name="connsiteY5" fmla="*/ 543697 h 902043"/>
              <a:gd name="connsiteX6" fmla="*/ 49427 w 61783"/>
              <a:gd name="connsiteY6" fmla="*/ 803189 h 902043"/>
              <a:gd name="connsiteX7" fmla="*/ 24713 w 61783"/>
              <a:gd name="connsiteY7" fmla="*/ 902043 h 90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83" h="902043">
                <a:moveTo>
                  <a:pt x="37070" y="0"/>
                </a:moveTo>
                <a:cubicBezTo>
                  <a:pt x="32951" y="49427"/>
                  <a:pt x="29905" y="98955"/>
                  <a:pt x="24713" y="148281"/>
                </a:cubicBezTo>
                <a:cubicBezTo>
                  <a:pt x="20172" y="191421"/>
                  <a:pt x="7372" y="264683"/>
                  <a:pt x="0" y="308919"/>
                </a:cubicBezTo>
                <a:cubicBezTo>
                  <a:pt x="16040" y="421204"/>
                  <a:pt x="3146" y="367786"/>
                  <a:pt x="37070" y="469557"/>
                </a:cubicBezTo>
                <a:lnTo>
                  <a:pt x="49427" y="506627"/>
                </a:lnTo>
                <a:lnTo>
                  <a:pt x="61783" y="543697"/>
                </a:lnTo>
                <a:cubicBezTo>
                  <a:pt x="57664" y="630194"/>
                  <a:pt x="58338" y="717053"/>
                  <a:pt x="49427" y="803189"/>
                </a:cubicBezTo>
                <a:cubicBezTo>
                  <a:pt x="45932" y="836974"/>
                  <a:pt x="24713" y="902043"/>
                  <a:pt x="24713" y="902043"/>
                </a:cubicBez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5" name="Freeform 224">
            <a:extLst>
              <a:ext uri="{FF2B5EF4-FFF2-40B4-BE49-F238E27FC236}">
                <a16:creationId xmlns:a16="http://schemas.microsoft.com/office/drawing/2014/main" id="{496B7D60-9091-3749-AC20-87529C1554A4}"/>
              </a:ext>
            </a:extLst>
          </p:cNvPr>
          <p:cNvSpPr/>
          <p:nvPr/>
        </p:nvSpPr>
        <p:spPr>
          <a:xfrm>
            <a:off x="3605213" y="3248025"/>
            <a:ext cx="68262" cy="771525"/>
          </a:xfrm>
          <a:custGeom>
            <a:avLst/>
            <a:gdLst>
              <a:gd name="connsiteX0" fmla="*/ 37070 w 61783"/>
              <a:gd name="connsiteY0" fmla="*/ 0 h 902043"/>
              <a:gd name="connsiteX1" fmla="*/ 24713 w 61783"/>
              <a:gd name="connsiteY1" fmla="*/ 148281 h 902043"/>
              <a:gd name="connsiteX2" fmla="*/ 0 w 61783"/>
              <a:gd name="connsiteY2" fmla="*/ 308919 h 902043"/>
              <a:gd name="connsiteX3" fmla="*/ 37070 w 61783"/>
              <a:gd name="connsiteY3" fmla="*/ 469557 h 902043"/>
              <a:gd name="connsiteX4" fmla="*/ 49427 w 61783"/>
              <a:gd name="connsiteY4" fmla="*/ 506627 h 902043"/>
              <a:gd name="connsiteX5" fmla="*/ 61783 w 61783"/>
              <a:gd name="connsiteY5" fmla="*/ 543697 h 902043"/>
              <a:gd name="connsiteX6" fmla="*/ 49427 w 61783"/>
              <a:gd name="connsiteY6" fmla="*/ 803189 h 902043"/>
              <a:gd name="connsiteX7" fmla="*/ 24713 w 61783"/>
              <a:gd name="connsiteY7" fmla="*/ 902043 h 90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83" h="902043">
                <a:moveTo>
                  <a:pt x="37070" y="0"/>
                </a:moveTo>
                <a:cubicBezTo>
                  <a:pt x="32951" y="49427"/>
                  <a:pt x="29905" y="98955"/>
                  <a:pt x="24713" y="148281"/>
                </a:cubicBezTo>
                <a:cubicBezTo>
                  <a:pt x="20172" y="191421"/>
                  <a:pt x="7372" y="264683"/>
                  <a:pt x="0" y="308919"/>
                </a:cubicBezTo>
                <a:cubicBezTo>
                  <a:pt x="16040" y="421204"/>
                  <a:pt x="3146" y="367786"/>
                  <a:pt x="37070" y="469557"/>
                </a:cubicBezTo>
                <a:lnTo>
                  <a:pt x="49427" y="506627"/>
                </a:lnTo>
                <a:lnTo>
                  <a:pt x="61783" y="543697"/>
                </a:lnTo>
                <a:cubicBezTo>
                  <a:pt x="57664" y="630194"/>
                  <a:pt x="58338" y="717053"/>
                  <a:pt x="49427" y="803189"/>
                </a:cubicBezTo>
                <a:cubicBezTo>
                  <a:pt x="45932" y="836974"/>
                  <a:pt x="24713" y="902043"/>
                  <a:pt x="24713" y="902043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6" name="Right Arrow 225">
            <a:extLst>
              <a:ext uri="{FF2B5EF4-FFF2-40B4-BE49-F238E27FC236}">
                <a16:creationId xmlns:a16="http://schemas.microsoft.com/office/drawing/2014/main" id="{B69CAA6B-5D0E-9046-9C98-8603A78B67F3}"/>
              </a:ext>
            </a:extLst>
          </p:cNvPr>
          <p:cNvSpPr/>
          <p:nvPr/>
        </p:nvSpPr>
        <p:spPr>
          <a:xfrm>
            <a:off x="2452688" y="3430588"/>
            <a:ext cx="666750" cy="173037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7" name="TextBox 18">
            <a:extLst>
              <a:ext uri="{FF2B5EF4-FFF2-40B4-BE49-F238E27FC236}">
                <a16:creationId xmlns:a16="http://schemas.microsoft.com/office/drawing/2014/main" id="{07E2B960-AD12-8444-921D-53084966F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2989263"/>
            <a:ext cx="1177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denaturation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reduction</a:t>
            </a:r>
          </a:p>
        </p:txBody>
      </p:sp>
      <p:sp>
        <p:nvSpPr>
          <p:cNvPr id="228" name="TextBox 22">
            <a:extLst>
              <a:ext uri="{FF2B5EF4-FFF2-40B4-BE49-F238E27FC236}">
                <a16:creationId xmlns:a16="http://schemas.microsoft.com/office/drawing/2014/main" id="{398EBB76-A949-7243-A33C-62614BAD8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0" y="1849438"/>
            <a:ext cx="73183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spike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 baseline="30000">
                <a:solidFill>
                  <a:srgbClr val="000000"/>
                </a:solidFill>
              </a:rPr>
              <a:t>15</a:t>
            </a:r>
            <a:r>
              <a:rPr lang="en-US" altLang="en-US" sz="1400" kern="0">
                <a:solidFill>
                  <a:srgbClr val="000000"/>
                </a:solidFill>
              </a:rPr>
              <a:t>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protein</a:t>
            </a:r>
          </a:p>
        </p:txBody>
      </p:sp>
      <p:sp>
        <p:nvSpPr>
          <p:cNvPr id="229" name="TextBox 23">
            <a:extLst>
              <a:ext uri="{FF2B5EF4-FFF2-40B4-BE49-F238E27FC236}">
                <a16:creationId xmlns:a16="http://schemas.microsoft.com/office/drawing/2014/main" id="{03CDD1CD-6D25-9C4A-8455-50A4A587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909763"/>
            <a:ext cx="8048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CSF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with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0.03%</a:t>
            </a:r>
            <a:br>
              <a:rPr lang="en-US" altLang="en-US" sz="1400" kern="0">
                <a:solidFill>
                  <a:srgbClr val="000000"/>
                </a:solidFill>
              </a:rPr>
            </a:br>
            <a:r>
              <a:rPr lang="en-US" altLang="en-US" sz="1400" kern="0">
                <a:solidFill>
                  <a:srgbClr val="000000"/>
                </a:solidFill>
              </a:rPr>
              <a:t>CHAPS</a:t>
            </a:r>
          </a:p>
        </p:txBody>
      </p:sp>
      <p:sp>
        <p:nvSpPr>
          <p:cNvPr id="230" name="Snip Same Side Corner Rectangle 229">
            <a:extLst>
              <a:ext uri="{FF2B5EF4-FFF2-40B4-BE49-F238E27FC236}">
                <a16:creationId xmlns:a16="http://schemas.microsoft.com/office/drawing/2014/main" id="{608EB8D9-012C-6645-B5FF-81C5C5AD98B5}"/>
              </a:ext>
            </a:extLst>
          </p:cNvPr>
          <p:cNvSpPr/>
          <p:nvPr/>
        </p:nvSpPr>
        <p:spPr>
          <a:xfrm rot="10800000">
            <a:off x="4789488" y="2841625"/>
            <a:ext cx="482600" cy="1322388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1" name="Freeform 230">
            <a:extLst>
              <a:ext uri="{FF2B5EF4-FFF2-40B4-BE49-F238E27FC236}">
                <a16:creationId xmlns:a16="http://schemas.microsoft.com/office/drawing/2014/main" id="{850926F0-1804-3F43-8983-B9BE1B9F3469}"/>
              </a:ext>
            </a:extLst>
          </p:cNvPr>
          <p:cNvSpPr/>
          <p:nvPr/>
        </p:nvSpPr>
        <p:spPr>
          <a:xfrm>
            <a:off x="4876800" y="3233738"/>
            <a:ext cx="68263" cy="773112"/>
          </a:xfrm>
          <a:custGeom>
            <a:avLst/>
            <a:gdLst>
              <a:gd name="connsiteX0" fmla="*/ 37070 w 61783"/>
              <a:gd name="connsiteY0" fmla="*/ 0 h 902043"/>
              <a:gd name="connsiteX1" fmla="*/ 24713 w 61783"/>
              <a:gd name="connsiteY1" fmla="*/ 148281 h 902043"/>
              <a:gd name="connsiteX2" fmla="*/ 0 w 61783"/>
              <a:gd name="connsiteY2" fmla="*/ 308919 h 902043"/>
              <a:gd name="connsiteX3" fmla="*/ 37070 w 61783"/>
              <a:gd name="connsiteY3" fmla="*/ 469557 h 902043"/>
              <a:gd name="connsiteX4" fmla="*/ 49427 w 61783"/>
              <a:gd name="connsiteY4" fmla="*/ 506627 h 902043"/>
              <a:gd name="connsiteX5" fmla="*/ 61783 w 61783"/>
              <a:gd name="connsiteY5" fmla="*/ 543697 h 902043"/>
              <a:gd name="connsiteX6" fmla="*/ 49427 w 61783"/>
              <a:gd name="connsiteY6" fmla="*/ 803189 h 902043"/>
              <a:gd name="connsiteX7" fmla="*/ 24713 w 61783"/>
              <a:gd name="connsiteY7" fmla="*/ 902043 h 90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83" h="902043">
                <a:moveTo>
                  <a:pt x="37070" y="0"/>
                </a:moveTo>
                <a:cubicBezTo>
                  <a:pt x="32951" y="49427"/>
                  <a:pt x="29905" y="98955"/>
                  <a:pt x="24713" y="148281"/>
                </a:cubicBezTo>
                <a:cubicBezTo>
                  <a:pt x="20172" y="191421"/>
                  <a:pt x="7372" y="264683"/>
                  <a:pt x="0" y="308919"/>
                </a:cubicBezTo>
                <a:cubicBezTo>
                  <a:pt x="16040" y="421204"/>
                  <a:pt x="3146" y="367786"/>
                  <a:pt x="37070" y="469557"/>
                </a:cubicBezTo>
                <a:lnTo>
                  <a:pt x="49427" y="506627"/>
                </a:lnTo>
                <a:lnTo>
                  <a:pt x="61783" y="543697"/>
                </a:lnTo>
                <a:cubicBezTo>
                  <a:pt x="57664" y="630194"/>
                  <a:pt x="58338" y="717053"/>
                  <a:pt x="49427" y="803189"/>
                </a:cubicBezTo>
                <a:cubicBezTo>
                  <a:pt x="45932" y="836974"/>
                  <a:pt x="24713" y="902043"/>
                  <a:pt x="24713" y="902043"/>
                </a:cubicBez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2" name="Freeform 231">
            <a:extLst>
              <a:ext uri="{FF2B5EF4-FFF2-40B4-BE49-F238E27FC236}">
                <a16:creationId xmlns:a16="http://schemas.microsoft.com/office/drawing/2014/main" id="{80024F90-8463-7846-A472-2227E0F91F95}"/>
              </a:ext>
            </a:extLst>
          </p:cNvPr>
          <p:cNvSpPr/>
          <p:nvPr/>
        </p:nvSpPr>
        <p:spPr>
          <a:xfrm>
            <a:off x="5073650" y="3233738"/>
            <a:ext cx="68263" cy="773112"/>
          </a:xfrm>
          <a:custGeom>
            <a:avLst/>
            <a:gdLst>
              <a:gd name="connsiteX0" fmla="*/ 37070 w 61783"/>
              <a:gd name="connsiteY0" fmla="*/ 0 h 902043"/>
              <a:gd name="connsiteX1" fmla="*/ 24713 w 61783"/>
              <a:gd name="connsiteY1" fmla="*/ 148281 h 902043"/>
              <a:gd name="connsiteX2" fmla="*/ 0 w 61783"/>
              <a:gd name="connsiteY2" fmla="*/ 308919 h 902043"/>
              <a:gd name="connsiteX3" fmla="*/ 37070 w 61783"/>
              <a:gd name="connsiteY3" fmla="*/ 469557 h 902043"/>
              <a:gd name="connsiteX4" fmla="*/ 49427 w 61783"/>
              <a:gd name="connsiteY4" fmla="*/ 506627 h 902043"/>
              <a:gd name="connsiteX5" fmla="*/ 61783 w 61783"/>
              <a:gd name="connsiteY5" fmla="*/ 543697 h 902043"/>
              <a:gd name="connsiteX6" fmla="*/ 49427 w 61783"/>
              <a:gd name="connsiteY6" fmla="*/ 803189 h 902043"/>
              <a:gd name="connsiteX7" fmla="*/ 24713 w 61783"/>
              <a:gd name="connsiteY7" fmla="*/ 902043 h 90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83" h="902043">
                <a:moveTo>
                  <a:pt x="37070" y="0"/>
                </a:moveTo>
                <a:cubicBezTo>
                  <a:pt x="32951" y="49427"/>
                  <a:pt x="29905" y="98955"/>
                  <a:pt x="24713" y="148281"/>
                </a:cubicBezTo>
                <a:cubicBezTo>
                  <a:pt x="20172" y="191421"/>
                  <a:pt x="7372" y="264683"/>
                  <a:pt x="0" y="308919"/>
                </a:cubicBezTo>
                <a:cubicBezTo>
                  <a:pt x="16040" y="421204"/>
                  <a:pt x="3146" y="367786"/>
                  <a:pt x="37070" y="469557"/>
                </a:cubicBezTo>
                <a:lnTo>
                  <a:pt x="49427" y="506627"/>
                </a:lnTo>
                <a:lnTo>
                  <a:pt x="61783" y="543697"/>
                </a:lnTo>
                <a:cubicBezTo>
                  <a:pt x="57664" y="630194"/>
                  <a:pt x="58338" y="717053"/>
                  <a:pt x="49427" y="803189"/>
                </a:cubicBezTo>
                <a:cubicBezTo>
                  <a:pt x="45932" y="836974"/>
                  <a:pt x="24713" y="902043"/>
                  <a:pt x="24713" y="902043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3" name="Right Arrow 232">
            <a:extLst>
              <a:ext uri="{FF2B5EF4-FFF2-40B4-BE49-F238E27FC236}">
                <a16:creationId xmlns:a16="http://schemas.microsoft.com/office/drawing/2014/main" id="{4D1573DC-3898-A14F-8094-8575923E1E85}"/>
              </a:ext>
            </a:extLst>
          </p:cNvPr>
          <p:cNvSpPr/>
          <p:nvPr/>
        </p:nvSpPr>
        <p:spPr>
          <a:xfrm>
            <a:off x="3994150" y="3416300"/>
            <a:ext cx="666750" cy="173038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4" name="TextBox 28">
            <a:extLst>
              <a:ext uri="{FF2B5EF4-FFF2-40B4-BE49-F238E27FC236}">
                <a16:creationId xmlns:a16="http://schemas.microsoft.com/office/drawing/2014/main" id="{6DA6B73E-2FE8-3643-B150-693BAFE33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109913"/>
            <a:ext cx="930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alkylation</a:t>
            </a:r>
          </a:p>
        </p:txBody>
      </p:sp>
      <p:cxnSp>
        <p:nvCxnSpPr>
          <p:cNvPr id="14354" name="Straight Connector 234">
            <a:extLst>
              <a:ext uri="{FF2B5EF4-FFF2-40B4-BE49-F238E27FC236}">
                <a16:creationId xmlns:a16="http://schemas.microsoft.com/office/drawing/2014/main" id="{2DA55962-5E6B-F136-1E84-3A5F29627191}"/>
              </a:ext>
            </a:extLst>
          </p:cNvPr>
          <p:cNvCxnSpPr>
            <a:cxnSpLocks/>
            <a:endCxn id="231" idx="1"/>
          </p:cNvCxnSpPr>
          <p:nvPr/>
        </p:nvCxnSpPr>
        <p:spPr bwMode="auto">
          <a:xfrm flipH="1" flipV="1">
            <a:off x="4903788" y="3360738"/>
            <a:ext cx="87312" cy="7937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5" name="Straight Connector 235">
            <a:extLst>
              <a:ext uri="{FF2B5EF4-FFF2-40B4-BE49-F238E27FC236}">
                <a16:creationId xmlns:a16="http://schemas.microsoft.com/office/drawing/2014/main" id="{47D19014-B5F3-1DDE-93D9-0B4D5D033FB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092700" y="3365500"/>
            <a:ext cx="87313" cy="7938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7" name="Snip Same Side Corner Rectangle 236">
            <a:extLst>
              <a:ext uri="{FF2B5EF4-FFF2-40B4-BE49-F238E27FC236}">
                <a16:creationId xmlns:a16="http://schemas.microsoft.com/office/drawing/2014/main" id="{EA5A2F59-0055-0E44-B466-A43C4B328793}"/>
              </a:ext>
            </a:extLst>
          </p:cNvPr>
          <p:cNvSpPr/>
          <p:nvPr/>
        </p:nvSpPr>
        <p:spPr>
          <a:xfrm rot="10800000">
            <a:off x="6259513" y="2836863"/>
            <a:ext cx="482600" cy="1320800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8" name="Right Arrow 237">
            <a:extLst>
              <a:ext uri="{FF2B5EF4-FFF2-40B4-BE49-F238E27FC236}">
                <a16:creationId xmlns:a16="http://schemas.microsoft.com/office/drawing/2014/main" id="{C5B55532-4629-9044-BA4A-55CD0D77B40E}"/>
              </a:ext>
            </a:extLst>
          </p:cNvPr>
          <p:cNvSpPr/>
          <p:nvPr/>
        </p:nvSpPr>
        <p:spPr>
          <a:xfrm>
            <a:off x="5464175" y="3411538"/>
            <a:ext cx="665163" cy="171450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9" name="TextBox 37">
            <a:extLst>
              <a:ext uri="{FF2B5EF4-FFF2-40B4-BE49-F238E27FC236}">
                <a16:creationId xmlns:a16="http://schemas.microsoft.com/office/drawing/2014/main" id="{222A52DF-F571-984E-8A3B-4196C6B75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025" y="2960688"/>
            <a:ext cx="71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trypsin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digest</a:t>
            </a:r>
          </a:p>
        </p:txBody>
      </p:sp>
      <p:cxnSp>
        <p:nvCxnSpPr>
          <p:cNvPr id="14359" name="Straight Connector 239">
            <a:extLst>
              <a:ext uri="{FF2B5EF4-FFF2-40B4-BE49-F238E27FC236}">
                <a16:creationId xmlns:a16="http://schemas.microsoft.com/office/drawing/2014/main" id="{48F1A69B-5DBC-C6F6-C352-1B19D7C08FA3}"/>
              </a:ext>
            </a:extLst>
          </p:cNvPr>
          <p:cNvCxnSpPr>
            <a:cxnSpLocks/>
          </p:cNvCxnSpPr>
          <p:nvPr/>
        </p:nvCxnSpPr>
        <p:spPr bwMode="auto">
          <a:xfrm flipH="1">
            <a:off x="6351588" y="3332163"/>
            <a:ext cx="80962" cy="107950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0" name="Straight Connector 240">
            <a:extLst>
              <a:ext uri="{FF2B5EF4-FFF2-40B4-BE49-F238E27FC236}">
                <a16:creationId xmlns:a16="http://schemas.microsoft.com/office/drawing/2014/main" id="{45D08120-3029-90D7-D58A-5C4D9796ED9D}"/>
              </a:ext>
            </a:extLst>
          </p:cNvPr>
          <p:cNvCxnSpPr>
            <a:cxnSpLocks/>
          </p:cNvCxnSpPr>
          <p:nvPr/>
        </p:nvCxnSpPr>
        <p:spPr bwMode="auto">
          <a:xfrm flipH="1">
            <a:off x="6519863" y="3367088"/>
            <a:ext cx="128587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1" name="Straight Connector 241">
            <a:extLst>
              <a:ext uri="{FF2B5EF4-FFF2-40B4-BE49-F238E27FC236}">
                <a16:creationId xmlns:a16="http://schemas.microsoft.com/office/drawing/2014/main" id="{754CDAA7-06F4-53BE-3350-AF5D68A846B1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1275" y="3533775"/>
            <a:ext cx="80963" cy="106363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2" name="Straight Connector 242">
            <a:extLst>
              <a:ext uri="{FF2B5EF4-FFF2-40B4-BE49-F238E27FC236}">
                <a16:creationId xmlns:a16="http://schemas.microsoft.com/office/drawing/2014/main" id="{AD40D9BC-C5E6-097E-C9F0-901C464487F7}"/>
              </a:ext>
            </a:extLst>
          </p:cNvPr>
          <p:cNvCxnSpPr>
            <a:cxnSpLocks/>
          </p:cNvCxnSpPr>
          <p:nvPr/>
        </p:nvCxnSpPr>
        <p:spPr bwMode="auto">
          <a:xfrm flipH="1">
            <a:off x="6430963" y="3206750"/>
            <a:ext cx="106362" cy="84138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3" name="Straight Connector 243">
            <a:extLst>
              <a:ext uri="{FF2B5EF4-FFF2-40B4-BE49-F238E27FC236}">
                <a16:creationId xmlns:a16="http://schemas.microsoft.com/office/drawing/2014/main" id="{9BB68508-86A9-EFA9-6C54-2C2819231759}"/>
              </a:ext>
            </a:extLst>
          </p:cNvPr>
          <p:cNvCxnSpPr>
            <a:cxnSpLocks/>
          </p:cNvCxnSpPr>
          <p:nvPr/>
        </p:nvCxnSpPr>
        <p:spPr bwMode="auto">
          <a:xfrm flipH="1">
            <a:off x="6472238" y="3641725"/>
            <a:ext cx="96837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4" name="Straight Connector 244">
            <a:extLst>
              <a:ext uri="{FF2B5EF4-FFF2-40B4-BE49-F238E27FC236}">
                <a16:creationId xmlns:a16="http://schemas.microsoft.com/office/drawing/2014/main" id="{3B072F79-5491-1A6B-2216-E7A583B03151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9213" y="3894138"/>
            <a:ext cx="96837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5" name="Straight Connector 245">
            <a:extLst>
              <a:ext uri="{FF2B5EF4-FFF2-40B4-BE49-F238E27FC236}">
                <a16:creationId xmlns:a16="http://schemas.microsoft.com/office/drawing/2014/main" id="{EF4E413C-54C8-8419-74E3-94F4672057D6}"/>
              </a:ext>
            </a:extLst>
          </p:cNvPr>
          <p:cNvCxnSpPr>
            <a:cxnSpLocks/>
          </p:cNvCxnSpPr>
          <p:nvPr/>
        </p:nvCxnSpPr>
        <p:spPr bwMode="auto">
          <a:xfrm flipH="1">
            <a:off x="6362700" y="3713163"/>
            <a:ext cx="106363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6" name="Straight Connector 246">
            <a:extLst>
              <a:ext uri="{FF2B5EF4-FFF2-40B4-BE49-F238E27FC236}">
                <a16:creationId xmlns:a16="http://schemas.microsoft.com/office/drawing/2014/main" id="{0EA71E27-773E-5637-15D8-BE34932CAAC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519863" y="3805238"/>
            <a:ext cx="127000" cy="17462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8" name="Right Arrow 247">
            <a:extLst>
              <a:ext uri="{FF2B5EF4-FFF2-40B4-BE49-F238E27FC236}">
                <a16:creationId xmlns:a16="http://schemas.microsoft.com/office/drawing/2014/main" id="{B3C06A76-5407-DF42-BA88-26CB350C8D6C}"/>
              </a:ext>
            </a:extLst>
          </p:cNvPr>
          <p:cNvSpPr/>
          <p:nvPr/>
        </p:nvSpPr>
        <p:spPr>
          <a:xfrm>
            <a:off x="1495425" y="3424238"/>
            <a:ext cx="196850" cy="184150"/>
          </a:xfrm>
          <a:prstGeom prst="rightArrow">
            <a:avLst/>
          </a:prstGeom>
          <a:solidFill>
            <a:srgbClr val="000000"/>
          </a:solidFill>
          <a:ln w="5715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49" name="Right Arrow 248">
            <a:extLst>
              <a:ext uri="{FF2B5EF4-FFF2-40B4-BE49-F238E27FC236}">
                <a16:creationId xmlns:a16="http://schemas.microsoft.com/office/drawing/2014/main" id="{7B0B0A25-8A66-7F44-AEB3-E41FD150E008}"/>
              </a:ext>
            </a:extLst>
          </p:cNvPr>
          <p:cNvSpPr/>
          <p:nvPr/>
        </p:nvSpPr>
        <p:spPr>
          <a:xfrm rot="5400000">
            <a:off x="1881981" y="2599532"/>
            <a:ext cx="231775" cy="128588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2292204E-1E37-7B42-9D4A-C3464D6FA23F}"/>
              </a:ext>
            </a:extLst>
          </p:cNvPr>
          <p:cNvSpPr/>
          <p:nvPr/>
        </p:nvSpPr>
        <p:spPr>
          <a:xfrm>
            <a:off x="7031038" y="3335338"/>
            <a:ext cx="379412" cy="184150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69" name="Snip Same Side Corner Rectangle 268">
            <a:extLst>
              <a:ext uri="{FF2B5EF4-FFF2-40B4-BE49-F238E27FC236}">
                <a16:creationId xmlns:a16="http://schemas.microsoft.com/office/drawing/2014/main" id="{9625839D-092F-EA40-B018-7955245048F3}"/>
              </a:ext>
            </a:extLst>
          </p:cNvPr>
          <p:cNvSpPr/>
          <p:nvPr/>
        </p:nvSpPr>
        <p:spPr>
          <a:xfrm rot="10800000">
            <a:off x="7512050" y="3389313"/>
            <a:ext cx="403225" cy="735012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4371" name="Straight Connector 269">
            <a:extLst>
              <a:ext uri="{FF2B5EF4-FFF2-40B4-BE49-F238E27FC236}">
                <a16:creationId xmlns:a16="http://schemas.microsoft.com/office/drawing/2014/main" id="{E7B022C9-9B66-3F86-351C-5A70B3BF1F75}"/>
              </a:ext>
            </a:extLst>
          </p:cNvPr>
          <p:cNvCxnSpPr>
            <a:cxnSpLocks/>
          </p:cNvCxnSpPr>
          <p:nvPr/>
        </p:nvCxnSpPr>
        <p:spPr bwMode="auto">
          <a:xfrm flipH="1">
            <a:off x="7677150" y="3105150"/>
            <a:ext cx="79375" cy="106363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2" name="Straight Connector 270">
            <a:extLst>
              <a:ext uri="{FF2B5EF4-FFF2-40B4-BE49-F238E27FC236}">
                <a16:creationId xmlns:a16="http://schemas.microsoft.com/office/drawing/2014/main" id="{03B47555-9204-B696-97C5-D02E3E66B306}"/>
              </a:ext>
            </a:extLst>
          </p:cNvPr>
          <p:cNvCxnSpPr>
            <a:cxnSpLocks/>
          </p:cNvCxnSpPr>
          <p:nvPr/>
        </p:nvCxnSpPr>
        <p:spPr bwMode="auto">
          <a:xfrm flipH="1">
            <a:off x="7645400" y="3140075"/>
            <a:ext cx="128588" cy="1746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3" name="Straight Connector 271">
            <a:extLst>
              <a:ext uri="{FF2B5EF4-FFF2-40B4-BE49-F238E27FC236}">
                <a16:creationId xmlns:a16="http://schemas.microsoft.com/office/drawing/2014/main" id="{78E91619-2BF4-E88B-B8D3-38D9D4DE8CE8}"/>
              </a:ext>
            </a:extLst>
          </p:cNvPr>
          <p:cNvCxnSpPr>
            <a:cxnSpLocks/>
          </p:cNvCxnSpPr>
          <p:nvPr/>
        </p:nvCxnSpPr>
        <p:spPr bwMode="auto">
          <a:xfrm flipH="1">
            <a:off x="7700963" y="2855913"/>
            <a:ext cx="79375" cy="106362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4" name="Straight Connector 272">
            <a:extLst>
              <a:ext uri="{FF2B5EF4-FFF2-40B4-BE49-F238E27FC236}">
                <a16:creationId xmlns:a16="http://schemas.microsoft.com/office/drawing/2014/main" id="{F23935C0-184B-99D7-FF8D-1F6DE02AFADB}"/>
              </a:ext>
            </a:extLst>
          </p:cNvPr>
          <p:cNvCxnSpPr>
            <a:cxnSpLocks/>
          </p:cNvCxnSpPr>
          <p:nvPr/>
        </p:nvCxnSpPr>
        <p:spPr bwMode="auto">
          <a:xfrm flipH="1">
            <a:off x="7683500" y="3225800"/>
            <a:ext cx="44450" cy="4921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5" name="Straight Connector 273">
            <a:extLst>
              <a:ext uri="{FF2B5EF4-FFF2-40B4-BE49-F238E27FC236}">
                <a16:creationId xmlns:a16="http://schemas.microsoft.com/office/drawing/2014/main" id="{AD23FB85-9120-AA60-BB1A-FC0F285577A2}"/>
              </a:ext>
            </a:extLst>
          </p:cNvPr>
          <p:cNvCxnSpPr>
            <a:cxnSpLocks/>
          </p:cNvCxnSpPr>
          <p:nvPr/>
        </p:nvCxnSpPr>
        <p:spPr bwMode="auto">
          <a:xfrm flipH="1">
            <a:off x="7658100" y="2963863"/>
            <a:ext cx="96838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6" name="Straight Connector 274">
            <a:extLst>
              <a:ext uri="{FF2B5EF4-FFF2-40B4-BE49-F238E27FC236}">
                <a16:creationId xmlns:a16="http://schemas.microsoft.com/office/drawing/2014/main" id="{8F379623-1AE8-B50F-F0B3-69FBA4B76963}"/>
              </a:ext>
            </a:extLst>
          </p:cNvPr>
          <p:cNvCxnSpPr>
            <a:cxnSpLocks/>
          </p:cNvCxnSpPr>
          <p:nvPr/>
        </p:nvCxnSpPr>
        <p:spPr bwMode="auto">
          <a:xfrm flipH="1">
            <a:off x="7680325" y="3170238"/>
            <a:ext cx="96838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77" name="Straight Connector 275">
            <a:extLst>
              <a:ext uri="{FF2B5EF4-FFF2-40B4-BE49-F238E27FC236}">
                <a16:creationId xmlns:a16="http://schemas.microsoft.com/office/drawing/2014/main" id="{A107AD8C-1A52-DC03-233E-F0625C310A66}"/>
              </a:ext>
            </a:extLst>
          </p:cNvPr>
          <p:cNvCxnSpPr>
            <a:cxnSpLocks/>
          </p:cNvCxnSpPr>
          <p:nvPr/>
        </p:nvCxnSpPr>
        <p:spPr bwMode="auto">
          <a:xfrm flipH="1">
            <a:off x="7670800" y="3033713"/>
            <a:ext cx="106363" cy="84137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4" name="Trapezoid 283">
            <a:extLst>
              <a:ext uri="{FF2B5EF4-FFF2-40B4-BE49-F238E27FC236}">
                <a16:creationId xmlns:a16="http://schemas.microsoft.com/office/drawing/2014/main" id="{C1190D19-045A-9C49-9F45-36890FF618FE}"/>
              </a:ext>
            </a:extLst>
          </p:cNvPr>
          <p:cNvSpPr/>
          <p:nvPr/>
        </p:nvSpPr>
        <p:spPr>
          <a:xfrm rot="10800000">
            <a:off x="7599363" y="2516188"/>
            <a:ext cx="227012" cy="846137"/>
          </a:xfrm>
          <a:prstGeom prst="trapezoid">
            <a:avLst>
              <a:gd name="adj" fmla="val 36348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85" name="TextBox 103">
            <a:extLst>
              <a:ext uri="{FF2B5EF4-FFF2-40B4-BE49-F238E27FC236}">
                <a16:creationId xmlns:a16="http://schemas.microsoft.com/office/drawing/2014/main" id="{8C238EF9-C902-9342-AE57-8ACEFFF08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8150" y="2833688"/>
            <a:ext cx="895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StageTip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desalt</a:t>
            </a:r>
          </a:p>
        </p:txBody>
      </p:sp>
      <p:sp>
        <p:nvSpPr>
          <p:cNvPr id="286" name="Right Arrow 285">
            <a:extLst>
              <a:ext uri="{FF2B5EF4-FFF2-40B4-BE49-F238E27FC236}">
                <a16:creationId xmlns:a16="http://schemas.microsoft.com/office/drawing/2014/main" id="{9701276A-5101-844B-8BD4-6306C70F0573}"/>
              </a:ext>
            </a:extLst>
          </p:cNvPr>
          <p:cNvSpPr/>
          <p:nvPr/>
        </p:nvSpPr>
        <p:spPr>
          <a:xfrm>
            <a:off x="8002588" y="3344863"/>
            <a:ext cx="379412" cy="185737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87" name="Snip Same Side Corner Rectangle 286">
            <a:extLst>
              <a:ext uri="{FF2B5EF4-FFF2-40B4-BE49-F238E27FC236}">
                <a16:creationId xmlns:a16="http://schemas.microsoft.com/office/drawing/2014/main" id="{F4516DC4-5BAD-0E43-BEEE-42FA613FFB53}"/>
              </a:ext>
            </a:extLst>
          </p:cNvPr>
          <p:cNvSpPr/>
          <p:nvPr/>
        </p:nvSpPr>
        <p:spPr>
          <a:xfrm rot="10800000">
            <a:off x="8512175" y="3398838"/>
            <a:ext cx="404813" cy="735012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4382" name="Straight Connector 287">
            <a:extLst>
              <a:ext uri="{FF2B5EF4-FFF2-40B4-BE49-F238E27FC236}">
                <a16:creationId xmlns:a16="http://schemas.microsoft.com/office/drawing/2014/main" id="{907EDBF2-C544-4B2D-D4BE-32045ACF79A1}"/>
              </a:ext>
            </a:extLst>
          </p:cNvPr>
          <p:cNvCxnSpPr>
            <a:cxnSpLocks/>
          </p:cNvCxnSpPr>
          <p:nvPr/>
        </p:nvCxnSpPr>
        <p:spPr bwMode="auto">
          <a:xfrm flipH="1">
            <a:off x="8677275" y="3840163"/>
            <a:ext cx="80963" cy="107950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3" name="Straight Connector 288">
            <a:extLst>
              <a:ext uri="{FF2B5EF4-FFF2-40B4-BE49-F238E27FC236}">
                <a16:creationId xmlns:a16="http://schemas.microsoft.com/office/drawing/2014/main" id="{256D1996-D89B-591A-45AC-CCCEF11D368E}"/>
              </a:ext>
            </a:extLst>
          </p:cNvPr>
          <p:cNvCxnSpPr>
            <a:cxnSpLocks/>
          </p:cNvCxnSpPr>
          <p:nvPr/>
        </p:nvCxnSpPr>
        <p:spPr bwMode="auto">
          <a:xfrm flipH="1">
            <a:off x="8647113" y="3875088"/>
            <a:ext cx="128587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4" name="Straight Connector 289">
            <a:extLst>
              <a:ext uri="{FF2B5EF4-FFF2-40B4-BE49-F238E27FC236}">
                <a16:creationId xmlns:a16="http://schemas.microsoft.com/office/drawing/2014/main" id="{C075B946-65EC-2638-C097-9B22F7FD4733}"/>
              </a:ext>
            </a:extLst>
          </p:cNvPr>
          <p:cNvCxnSpPr>
            <a:cxnSpLocks/>
          </p:cNvCxnSpPr>
          <p:nvPr/>
        </p:nvCxnSpPr>
        <p:spPr bwMode="auto">
          <a:xfrm flipH="1">
            <a:off x="8763000" y="3938588"/>
            <a:ext cx="79375" cy="106362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5" name="Straight Connector 290">
            <a:extLst>
              <a:ext uri="{FF2B5EF4-FFF2-40B4-BE49-F238E27FC236}">
                <a16:creationId xmlns:a16="http://schemas.microsoft.com/office/drawing/2014/main" id="{012BD8A3-A74C-6098-0673-BBBCEF9E5BDE}"/>
              </a:ext>
            </a:extLst>
          </p:cNvPr>
          <p:cNvCxnSpPr>
            <a:cxnSpLocks/>
          </p:cNvCxnSpPr>
          <p:nvPr/>
        </p:nvCxnSpPr>
        <p:spPr bwMode="auto">
          <a:xfrm flipH="1">
            <a:off x="8683625" y="3960813"/>
            <a:ext cx="44450" cy="5080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6" name="Straight Connector 291">
            <a:extLst>
              <a:ext uri="{FF2B5EF4-FFF2-40B4-BE49-F238E27FC236}">
                <a16:creationId xmlns:a16="http://schemas.microsoft.com/office/drawing/2014/main" id="{0178719B-5186-F875-EC7C-176DBDA1AC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593138" y="3913188"/>
            <a:ext cx="95250" cy="30162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7" name="Straight Connector 292">
            <a:extLst>
              <a:ext uri="{FF2B5EF4-FFF2-40B4-BE49-F238E27FC236}">
                <a16:creationId xmlns:a16="http://schemas.microsoft.com/office/drawing/2014/main" id="{986C13CA-8F77-94EF-F5CC-1032C689A506}"/>
              </a:ext>
            </a:extLst>
          </p:cNvPr>
          <p:cNvCxnSpPr>
            <a:cxnSpLocks/>
          </p:cNvCxnSpPr>
          <p:nvPr/>
        </p:nvCxnSpPr>
        <p:spPr bwMode="auto">
          <a:xfrm flipH="1">
            <a:off x="8680450" y="3905250"/>
            <a:ext cx="96838" cy="30163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8" name="Straight Connector 293">
            <a:extLst>
              <a:ext uri="{FF2B5EF4-FFF2-40B4-BE49-F238E27FC236}">
                <a16:creationId xmlns:a16="http://schemas.microsoft.com/office/drawing/2014/main" id="{0A6E2142-E354-B52A-7102-A861AC06100C}"/>
              </a:ext>
            </a:extLst>
          </p:cNvPr>
          <p:cNvCxnSpPr>
            <a:cxnSpLocks/>
          </p:cNvCxnSpPr>
          <p:nvPr/>
        </p:nvCxnSpPr>
        <p:spPr bwMode="auto">
          <a:xfrm flipH="1">
            <a:off x="8672513" y="3770313"/>
            <a:ext cx="104775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89" name="Straight Connector 294">
            <a:extLst>
              <a:ext uri="{FF2B5EF4-FFF2-40B4-BE49-F238E27FC236}">
                <a16:creationId xmlns:a16="http://schemas.microsoft.com/office/drawing/2014/main" id="{F8ABBC3E-CF09-FF03-965B-B3BA53979C4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605838" y="3952875"/>
            <a:ext cx="63500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2" name="Trapezoid 301">
            <a:extLst>
              <a:ext uri="{FF2B5EF4-FFF2-40B4-BE49-F238E27FC236}">
                <a16:creationId xmlns:a16="http://schemas.microsoft.com/office/drawing/2014/main" id="{55F07268-1557-4E43-BB55-AB6754C3B09E}"/>
              </a:ext>
            </a:extLst>
          </p:cNvPr>
          <p:cNvSpPr/>
          <p:nvPr/>
        </p:nvSpPr>
        <p:spPr>
          <a:xfrm rot="10800000">
            <a:off x="8599488" y="2525713"/>
            <a:ext cx="227012" cy="847725"/>
          </a:xfrm>
          <a:prstGeom prst="trapezoid">
            <a:avLst>
              <a:gd name="adj" fmla="val 36348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03" name="TextBox 121">
            <a:extLst>
              <a:ext uri="{FF2B5EF4-FFF2-40B4-BE49-F238E27FC236}">
                <a16:creationId xmlns:a16="http://schemas.microsoft.com/office/drawing/2014/main" id="{B838A79C-FF08-B94E-A189-6984B8CFB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863" y="2843213"/>
            <a:ext cx="89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StageTip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elute</a:t>
            </a:r>
          </a:p>
        </p:txBody>
      </p:sp>
      <p:cxnSp>
        <p:nvCxnSpPr>
          <p:cNvPr id="14392" name="Straight Connector 303">
            <a:extLst>
              <a:ext uri="{FF2B5EF4-FFF2-40B4-BE49-F238E27FC236}">
                <a16:creationId xmlns:a16="http://schemas.microsoft.com/office/drawing/2014/main" id="{3C29D05C-05A1-AE9F-5DDF-CDDD67BA2D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0263" y="5332413"/>
            <a:ext cx="815975" cy="4635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3" name="Straight Connector 304">
            <a:extLst>
              <a:ext uri="{FF2B5EF4-FFF2-40B4-BE49-F238E27FC236}">
                <a16:creationId xmlns:a16="http://schemas.microsoft.com/office/drawing/2014/main" id="{2F8BC8BB-36B1-539A-2606-5F7A233BA2F9}"/>
              </a:ext>
            </a:extLst>
          </p:cNvPr>
          <p:cNvCxnSpPr>
            <a:cxnSpLocks/>
          </p:cNvCxnSpPr>
          <p:nvPr/>
        </p:nvCxnSpPr>
        <p:spPr bwMode="auto">
          <a:xfrm flipV="1">
            <a:off x="830263" y="5427663"/>
            <a:ext cx="815975" cy="36830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4" name="Straight Connector 305">
            <a:extLst>
              <a:ext uri="{FF2B5EF4-FFF2-40B4-BE49-F238E27FC236}">
                <a16:creationId xmlns:a16="http://schemas.microsoft.com/office/drawing/2014/main" id="{9F77DC14-596B-4887-AD26-850A86C13CD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0263" y="5535613"/>
            <a:ext cx="815975" cy="2603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5" name="Straight Connector 306">
            <a:extLst>
              <a:ext uri="{FF2B5EF4-FFF2-40B4-BE49-F238E27FC236}">
                <a16:creationId xmlns:a16="http://schemas.microsoft.com/office/drawing/2014/main" id="{47751EDC-6DAD-D9F8-1EFB-0F780E450212}"/>
              </a:ext>
            </a:extLst>
          </p:cNvPr>
          <p:cNvCxnSpPr>
            <a:cxnSpLocks/>
          </p:cNvCxnSpPr>
          <p:nvPr/>
        </p:nvCxnSpPr>
        <p:spPr bwMode="auto">
          <a:xfrm flipV="1">
            <a:off x="849313" y="5646738"/>
            <a:ext cx="809625" cy="14287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6" name="Straight Connector 307">
            <a:extLst>
              <a:ext uri="{FF2B5EF4-FFF2-40B4-BE49-F238E27FC236}">
                <a16:creationId xmlns:a16="http://schemas.microsoft.com/office/drawing/2014/main" id="{330C81D9-2157-902E-BB39-BFFECF8C9806}"/>
              </a:ext>
            </a:extLst>
          </p:cNvPr>
          <p:cNvCxnSpPr>
            <a:cxnSpLocks/>
          </p:cNvCxnSpPr>
          <p:nvPr/>
        </p:nvCxnSpPr>
        <p:spPr bwMode="auto">
          <a:xfrm flipV="1">
            <a:off x="825500" y="5726113"/>
            <a:ext cx="820738" cy="698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7" name="Straight Connector 308">
            <a:extLst>
              <a:ext uri="{FF2B5EF4-FFF2-40B4-BE49-F238E27FC236}">
                <a16:creationId xmlns:a16="http://schemas.microsoft.com/office/drawing/2014/main" id="{D321DACD-5FA3-8ACF-6384-BD0121C8B6E1}"/>
              </a:ext>
            </a:extLst>
          </p:cNvPr>
          <p:cNvCxnSpPr>
            <a:cxnSpLocks/>
          </p:cNvCxnSpPr>
          <p:nvPr/>
        </p:nvCxnSpPr>
        <p:spPr bwMode="auto">
          <a:xfrm flipV="1">
            <a:off x="838200" y="5789613"/>
            <a:ext cx="808038" cy="63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8" name="Straight Connector 309">
            <a:extLst>
              <a:ext uri="{FF2B5EF4-FFF2-40B4-BE49-F238E27FC236}">
                <a16:creationId xmlns:a16="http://schemas.microsoft.com/office/drawing/2014/main" id="{A93C2AA8-BDD1-814E-2C4F-C256D7DA4D73}"/>
              </a:ext>
            </a:extLst>
          </p:cNvPr>
          <p:cNvCxnSpPr>
            <a:cxnSpLocks/>
          </p:cNvCxnSpPr>
          <p:nvPr/>
        </p:nvCxnSpPr>
        <p:spPr bwMode="auto">
          <a:xfrm>
            <a:off x="857250" y="5795963"/>
            <a:ext cx="795338" cy="7302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9" name="Straight Connector 310">
            <a:extLst>
              <a:ext uri="{FF2B5EF4-FFF2-40B4-BE49-F238E27FC236}">
                <a16:creationId xmlns:a16="http://schemas.microsoft.com/office/drawing/2014/main" id="{FE0387A6-CA48-FC17-8081-245D2B24B579}"/>
              </a:ext>
            </a:extLst>
          </p:cNvPr>
          <p:cNvCxnSpPr>
            <a:cxnSpLocks/>
          </p:cNvCxnSpPr>
          <p:nvPr/>
        </p:nvCxnSpPr>
        <p:spPr bwMode="auto">
          <a:xfrm>
            <a:off x="838200" y="5795963"/>
            <a:ext cx="784225" cy="17462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0" name="Straight Connector 311">
            <a:extLst>
              <a:ext uri="{FF2B5EF4-FFF2-40B4-BE49-F238E27FC236}">
                <a16:creationId xmlns:a16="http://schemas.microsoft.com/office/drawing/2014/main" id="{797B89A3-7DF6-821D-57AD-3E6045E48281}"/>
              </a:ext>
            </a:extLst>
          </p:cNvPr>
          <p:cNvCxnSpPr>
            <a:cxnSpLocks/>
          </p:cNvCxnSpPr>
          <p:nvPr/>
        </p:nvCxnSpPr>
        <p:spPr bwMode="auto">
          <a:xfrm>
            <a:off x="827088" y="5789613"/>
            <a:ext cx="758825" cy="30480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1" name="Straight Connector 312">
            <a:extLst>
              <a:ext uri="{FF2B5EF4-FFF2-40B4-BE49-F238E27FC236}">
                <a16:creationId xmlns:a16="http://schemas.microsoft.com/office/drawing/2014/main" id="{F4BC09AF-EFF6-E7F3-8892-439D8CC96AB3}"/>
              </a:ext>
            </a:extLst>
          </p:cNvPr>
          <p:cNvCxnSpPr>
            <a:cxnSpLocks/>
          </p:cNvCxnSpPr>
          <p:nvPr/>
        </p:nvCxnSpPr>
        <p:spPr bwMode="auto">
          <a:xfrm>
            <a:off x="838200" y="5789613"/>
            <a:ext cx="731838" cy="39687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2" name="Straight Connector 313">
            <a:extLst>
              <a:ext uri="{FF2B5EF4-FFF2-40B4-BE49-F238E27FC236}">
                <a16:creationId xmlns:a16="http://schemas.microsoft.com/office/drawing/2014/main" id="{BC350E0E-56DF-044C-0D38-2D5863A6303E}"/>
              </a:ext>
            </a:extLst>
          </p:cNvPr>
          <p:cNvCxnSpPr>
            <a:cxnSpLocks/>
          </p:cNvCxnSpPr>
          <p:nvPr/>
        </p:nvCxnSpPr>
        <p:spPr bwMode="auto">
          <a:xfrm flipH="1">
            <a:off x="1582738" y="5948363"/>
            <a:ext cx="80962" cy="1047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3" name="Straight Connector 314">
            <a:extLst>
              <a:ext uri="{FF2B5EF4-FFF2-40B4-BE49-F238E27FC236}">
                <a16:creationId xmlns:a16="http://schemas.microsoft.com/office/drawing/2014/main" id="{DF836EBD-E6BA-6C3A-F195-F9DF3C7DD18E}"/>
              </a:ext>
            </a:extLst>
          </p:cNvPr>
          <p:cNvCxnSpPr>
            <a:cxnSpLocks/>
          </p:cNvCxnSpPr>
          <p:nvPr/>
        </p:nvCxnSpPr>
        <p:spPr bwMode="auto">
          <a:xfrm flipH="1">
            <a:off x="1614488" y="5478463"/>
            <a:ext cx="128587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4" name="Straight Connector 315">
            <a:extLst>
              <a:ext uri="{FF2B5EF4-FFF2-40B4-BE49-F238E27FC236}">
                <a16:creationId xmlns:a16="http://schemas.microsoft.com/office/drawing/2014/main" id="{4C6C5FF6-E41A-496E-FBF1-55908A088C92}"/>
              </a:ext>
            </a:extLst>
          </p:cNvPr>
          <p:cNvCxnSpPr>
            <a:cxnSpLocks/>
          </p:cNvCxnSpPr>
          <p:nvPr/>
        </p:nvCxnSpPr>
        <p:spPr bwMode="auto">
          <a:xfrm flipH="1">
            <a:off x="1687513" y="5767388"/>
            <a:ext cx="80962" cy="107950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5" name="Straight Connector 316">
            <a:extLst>
              <a:ext uri="{FF2B5EF4-FFF2-40B4-BE49-F238E27FC236}">
                <a16:creationId xmlns:a16="http://schemas.microsoft.com/office/drawing/2014/main" id="{CBAE6E86-8DDB-B0CD-619E-1DD7A671E394}"/>
              </a:ext>
            </a:extLst>
          </p:cNvPr>
          <p:cNvCxnSpPr>
            <a:cxnSpLocks/>
          </p:cNvCxnSpPr>
          <p:nvPr/>
        </p:nvCxnSpPr>
        <p:spPr bwMode="auto">
          <a:xfrm flipH="1">
            <a:off x="1608138" y="5789613"/>
            <a:ext cx="46037" cy="5080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6" name="Straight Connector 317">
            <a:extLst>
              <a:ext uri="{FF2B5EF4-FFF2-40B4-BE49-F238E27FC236}">
                <a16:creationId xmlns:a16="http://schemas.microsoft.com/office/drawing/2014/main" id="{8362589F-5D46-5870-4125-15EF77A755C6}"/>
              </a:ext>
            </a:extLst>
          </p:cNvPr>
          <p:cNvCxnSpPr>
            <a:cxnSpLocks/>
          </p:cNvCxnSpPr>
          <p:nvPr/>
        </p:nvCxnSpPr>
        <p:spPr bwMode="auto">
          <a:xfrm flipH="1">
            <a:off x="1560513" y="5516563"/>
            <a:ext cx="96837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7" name="Straight Connector 318">
            <a:extLst>
              <a:ext uri="{FF2B5EF4-FFF2-40B4-BE49-F238E27FC236}">
                <a16:creationId xmlns:a16="http://schemas.microsoft.com/office/drawing/2014/main" id="{EAE09451-EC7F-585B-1333-9D1E98F789B2}"/>
              </a:ext>
            </a:extLst>
          </p:cNvPr>
          <p:cNvCxnSpPr>
            <a:cxnSpLocks/>
          </p:cNvCxnSpPr>
          <p:nvPr/>
        </p:nvCxnSpPr>
        <p:spPr bwMode="auto">
          <a:xfrm flipH="1">
            <a:off x="1473200" y="6107113"/>
            <a:ext cx="96838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8" name="Straight Connector 319">
            <a:extLst>
              <a:ext uri="{FF2B5EF4-FFF2-40B4-BE49-F238E27FC236}">
                <a16:creationId xmlns:a16="http://schemas.microsoft.com/office/drawing/2014/main" id="{6C98A76C-9A1D-B910-BE70-E5B0193A8586}"/>
              </a:ext>
            </a:extLst>
          </p:cNvPr>
          <p:cNvCxnSpPr>
            <a:cxnSpLocks/>
          </p:cNvCxnSpPr>
          <p:nvPr/>
        </p:nvCxnSpPr>
        <p:spPr bwMode="auto">
          <a:xfrm flipH="1">
            <a:off x="1639888" y="5294313"/>
            <a:ext cx="106362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9" name="Straight Connector 320">
            <a:extLst>
              <a:ext uri="{FF2B5EF4-FFF2-40B4-BE49-F238E27FC236}">
                <a16:creationId xmlns:a16="http://schemas.microsoft.com/office/drawing/2014/main" id="{FFCA2BD0-0641-AF29-54D0-F2F0BB87393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73213" y="5653088"/>
            <a:ext cx="63500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" name="TextBox 216">
            <a:extLst>
              <a:ext uri="{FF2B5EF4-FFF2-40B4-BE49-F238E27FC236}">
                <a16:creationId xmlns:a16="http://schemas.microsoft.com/office/drawing/2014/main" id="{4541AC49-6312-FF47-9716-BBC6089A1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4970463"/>
            <a:ext cx="10620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LC-MS/MS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933BEB07-CB7D-7847-80F9-9F1DDA18DFD9}"/>
              </a:ext>
            </a:extLst>
          </p:cNvPr>
          <p:cNvSpPr/>
          <p:nvPr/>
        </p:nvSpPr>
        <p:spPr>
          <a:xfrm>
            <a:off x="2281238" y="5233988"/>
            <a:ext cx="1025525" cy="952500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0" name="Freeform 329">
            <a:extLst>
              <a:ext uri="{FF2B5EF4-FFF2-40B4-BE49-F238E27FC236}">
                <a16:creationId xmlns:a16="http://schemas.microsoft.com/office/drawing/2014/main" id="{7DE480EE-F3EA-C843-A2E8-D47AA30E5EBD}"/>
              </a:ext>
            </a:extLst>
          </p:cNvPr>
          <p:cNvSpPr/>
          <p:nvPr/>
        </p:nvSpPr>
        <p:spPr>
          <a:xfrm>
            <a:off x="2289175" y="5462588"/>
            <a:ext cx="1017588" cy="704850"/>
          </a:xfrm>
          <a:custGeom>
            <a:avLst/>
            <a:gdLst>
              <a:gd name="connsiteX0" fmla="*/ 0 w 1018032"/>
              <a:gd name="connsiteY0" fmla="*/ 682767 h 707151"/>
              <a:gd name="connsiteX1" fmla="*/ 292608 w 1018032"/>
              <a:gd name="connsiteY1" fmla="*/ 566943 h 707151"/>
              <a:gd name="connsiteX2" fmla="*/ 499872 w 1018032"/>
              <a:gd name="connsiteY2" fmla="*/ 15 h 707151"/>
              <a:gd name="connsiteX3" fmla="*/ 682752 w 1018032"/>
              <a:gd name="connsiteY3" fmla="*/ 585231 h 707151"/>
              <a:gd name="connsiteX4" fmla="*/ 1018032 w 1018032"/>
              <a:gd name="connsiteY4" fmla="*/ 707151 h 70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032" h="707151">
                <a:moveTo>
                  <a:pt x="0" y="682767"/>
                </a:moveTo>
                <a:cubicBezTo>
                  <a:pt x="104648" y="681751"/>
                  <a:pt x="209296" y="680735"/>
                  <a:pt x="292608" y="566943"/>
                </a:cubicBezTo>
                <a:cubicBezTo>
                  <a:pt x="375920" y="453151"/>
                  <a:pt x="434848" y="-3033"/>
                  <a:pt x="499872" y="15"/>
                </a:cubicBezTo>
                <a:cubicBezTo>
                  <a:pt x="564896" y="3063"/>
                  <a:pt x="596392" y="467375"/>
                  <a:pt x="682752" y="585231"/>
                </a:cubicBezTo>
                <a:cubicBezTo>
                  <a:pt x="769112" y="703087"/>
                  <a:pt x="893572" y="705119"/>
                  <a:pt x="1018032" y="707151"/>
                </a:cubicBezTo>
              </a:path>
            </a:pathLst>
          </a:custGeom>
          <a:noFill/>
          <a:ln w="57150" cap="flat" cmpd="sng" algn="ctr">
            <a:solidFill>
              <a:srgbClr val="80808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1" name="Freeform 330">
            <a:extLst>
              <a:ext uri="{FF2B5EF4-FFF2-40B4-BE49-F238E27FC236}">
                <a16:creationId xmlns:a16="http://schemas.microsoft.com/office/drawing/2014/main" id="{35ACED90-D0E1-1C42-A5E7-501CFFF4DD54}"/>
              </a:ext>
            </a:extLst>
          </p:cNvPr>
          <p:cNvSpPr/>
          <p:nvPr/>
        </p:nvSpPr>
        <p:spPr>
          <a:xfrm>
            <a:off x="2289175" y="5815013"/>
            <a:ext cx="1017588" cy="361950"/>
          </a:xfrm>
          <a:custGeom>
            <a:avLst/>
            <a:gdLst>
              <a:gd name="connsiteX0" fmla="*/ 0 w 1018032"/>
              <a:gd name="connsiteY0" fmla="*/ 682767 h 707151"/>
              <a:gd name="connsiteX1" fmla="*/ 292608 w 1018032"/>
              <a:gd name="connsiteY1" fmla="*/ 566943 h 707151"/>
              <a:gd name="connsiteX2" fmla="*/ 499872 w 1018032"/>
              <a:gd name="connsiteY2" fmla="*/ 15 h 707151"/>
              <a:gd name="connsiteX3" fmla="*/ 682752 w 1018032"/>
              <a:gd name="connsiteY3" fmla="*/ 585231 h 707151"/>
              <a:gd name="connsiteX4" fmla="*/ 1018032 w 1018032"/>
              <a:gd name="connsiteY4" fmla="*/ 707151 h 70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032" h="707151">
                <a:moveTo>
                  <a:pt x="0" y="682767"/>
                </a:moveTo>
                <a:cubicBezTo>
                  <a:pt x="104648" y="681751"/>
                  <a:pt x="209296" y="680735"/>
                  <a:pt x="292608" y="566943"/>
                </a:cubicBezTo>
                <a:cubicBezTo>
                  <a:pt x="375920" y="453151"/>
                  <a:pt x="434848" y="-3033"/>
                  <a:pt x="499872" y="15"/>
                </a:cubicBezTo>
                <a:cubicBezTo>
                  <a:pt x="564896" y="3063"/>
                  <a:pt x="596392" y="467375"/>
                  <a:pt x="682752" y="585231"/>
                </a:cubicBezTo>
                <a:cubicBezTo>
                  <a:pt x="769112" y="703087"/>
                  <a:pt x="893572" y="705119"/>
                  <a:pt x="1018032" y="707151"/>
                </a:cubicBez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3" name="TextBox 223">
            <a:extLst>
              <a:ext uri="{FF2B5EF4-FFF2-40B4-BE49-F238E27FC236}">
                <a16:creationId xmlns:a16="http://schemas.microsoft.com/office/drawing/2014/main" id="{825BE0F8-4F9A-8E46-BD3A-991CF994E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3" y="4773613"/>
            <a:ext cx="1019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peak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integration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C6AEF2B-5F64-EF4B-BF63-31445122EB6B}"/>
              </a:ext>
            </a:extLst>
          </p:cNvPr>
          <p:cNvSpPr/>
          <p:nvPr/>
        </p:nvSpPr>
        <p:spPr>
          <a:xfrm>
            <a:off x="3944938" y="5259388"/>
            <a:ext cx="1027112" cy="949325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5" name="TextBox 225">
            <a:extLst>
              <a:ext uri="{FF2B5EF4-FFF2-40B4-BE49-F238E27FC236}">
                <a16:creationId xmlns:a16="http://schemas.microsoft.com/office/drawing/2014/main" id="{DA16B966-84BA-1F40-9151-1E94A680D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4773613"/>
            <a:ext cx="1030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report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generation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156D3B6-DC6D-FB4E-9BBD-FA51E2BF18C9}"/>
              </a:ext>
            </a:extLst>
          </p:cNvPr>
          <p:cNvSpPr txBox="1"/>
          <p:nvPr/>
        </p:nvSpPr>
        <p:spPr>
          <a:xfrm>
            <a:off x="3889375" y="5265738"/>
            <a:ext cx="1560513" cy="920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,QQ181101_PrP_Exp20_A5_01,,41.53,y7,483.565007,233556,0.7823,963193,0.7512,486.901097,298568,#N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,QQ181101_PrP_Exp20_B5_01,,41.56,y7,483.565007,252158,0.8931,1094711,0.8828,486.901097,282332,#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,QQ181101_PrP_Exp20_C5_01,,41.25,y7,483.565007,393718,1.4092,1638691,1.4575,486.901097,279391,#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M,QQ181101_PrP_Exp20_D5_01,,41.19,y7,483.565007,444926,1.5045,1819431,1.5097,486.901097,295729,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,QQ181101_PrP_Exp20_E5_01,,41.28,y7,483.565007,530665,2.0541,2248028,2.0334,486.901097,258342,#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,QQ181101_PrP_Exp20_F5_01,,41.2,y7,483.565007,623074,2.2519,2524783,2.154,486.901097,276693,#N/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,QQ181101_PrP_Exp20_G5_01,,41.04,y7,483.565007,1045618,7.4968,4290197,7.0655,486.901097,139475,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,QQ181101_PrP_Exp20_H5_01,,40.99,y7,483.565007,935015,7.1906,3925487,7.0381,486.901097,130033,#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,QQ181101_PrP_Exp20_I5_01,,41.29,y7,483.565007,908838,2.4844,3746531,2.3786,486.901097,365811,#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,QQ181101_PrP_Exp20_J5_01,,41.39,y7,483.565007,889813,2.4676,3627670,2.263,486.901097,360603,#N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M,QQ181101_PrP_Exp20_K5_01,,41.26,y7,483.565007,1753373,5.3297,7423879,5.1702,486.901097,328981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M,QQ181101_PrP_Exp20_L5_01,,41.31,y7,483.565007,1968575,4.9802,8290343,4.6987,486.901097,395281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,QQ181102_PrP_Exp20_M5_01,,41.09,y7,483.565007,344186,1.699,1467030,1.6291,486.901097,202583,#N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,QQ181102_PrP_Exp20_N5_01,,41.37,y7,483.565007,212475,1.6089,918697,1.6427,486.901097,132061,#N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M,QQ181102_PrP_Exp20_O5_01,,41.29,y7,483.565007,1344975,3.3558,5637970,3.3512,486.901097,400793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M,QQ181102_PrP_Exp20_P5_01,,41.24,y7,483.565007,1392438,3.6152,5853268,3.5457,486.901097,385159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,QQ181102_PrP_Exp20_Q5_01,,41.28,y7,483.565007,1298007,3.4814,5367723,3.2503,486.901097,372839,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,QQ181102_PrP_Exp20_R5_01,,41.23,y7,483.565007,1353837,3.1202,5688649,3.1154,486.901097,433892,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,QQ181102_PrP_Exp20_S5_01,,41.19,y7,483.565007,928320,2.6182,3760181,2.4575,486.901097,354562,#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,QQ181102_PrP_Exp20_T5_01,,41.13,y7,483.565007,1160603,2.5507,4871117,2.5846,486.901097,455009,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M,QQ181102_PrP_Exp20_U5_01,,41.35,y7,483.565007,878539,1.645,3634777,1.647,486.901097,534052,#N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,QQ181102_PrP_Exp20_V5_01,,41.31,y7,483.565007,937150,1.6705,3898700,1.6907,486.901097,560984,#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,QQ181102_PrP_Exp20_W5_01,,41.19,y7,483.565007,1140721,2.0413,4710833,1.9868,486.901097,558815,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,QQ181102_PrP_Exp20_X5_01,,41.09,y7,483.565007,998760,2.0437,4174189,2.033,486.901097,488702,#N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,QQ181101_PrP_Exp20_A5_01,,41.53,y4,483.565007,274990,0.7979,963193,0.7512,486.901097,344646,#N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,QQ181101_PrP_Exp20_B5_01,,41.56,y4,483.565007,311187,0.927,1094711,0.8828,486.901097,335681,#N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,QQ181101_PrP_Exp20_C5_01,,41.25,y4,483.565007,476451,1.5654,1638691,1.4575,486.901097,304362,#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M,QQ181101_PrP_Exp20_D5_01,,41.19,y4,483.565007,508061,1.5256,1819431,1.5097,486.901097,333032,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,QQ181101_PrP_Exp20_E5_01,,41.28,y4,483.565007,640163,2.0949,2248028,2.0334,486.901097,305584,#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,QQ181101_PrP_Exp20_F5_01,,41.2,y4,483.565007,730830,2.2576,2524783,2.154,486.901097,323716,#N/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,QQ181101_PrP_Exp20_G5_01,,41.04,y4,483.565007,1217098,7.3168,4290197,7.0655,486.901097,166343,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,QQ181101_PrP_Exp20_H5_01,,40.99,y4,483.565007,1157307,7.594,3925487,7.0381,486.901097,152397,#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,QQ181101_PrP_Exp20_I5_01,,41.29,y4,483.565007,1086715,2.5047,3746531,2.3786,486.901097,433879,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,QQ181101_PrP_Exp20_J5_01,,41.39,y4,483.565007,1050964,2.35,3627670,2.263,486.901097,447213,#N/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M,QQ181101_PrP_Exp20_K5_01,,41.26,y4,483.565007,2148448,5.2434,7423879,5.1702,486.901097,409745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M,QQ181101_PrP_Exp20_L5_01,,41.31,y4,483.565007,2394485,4.5639,8290343,4.6987,486.901097,524661</a:t>
            </a:r>
          </a:p>
        </p:txBody>
      </p:sp>
      <p:cxnSp>
        <p:nvCxnSpPr>
          <p:cNvPr id="14418" name="Straight Connector 336">
            <a:extLst>
              <a:ext uri="{FF2B5EF4-FFF2-40B4-BE49-F238E27FC236}">
                <a16:creationId xmlns:a16="http://schemas.microsoft.com/office/drawing/2014/main" id="{9B40D9FB-0258-7900-8AA6-1C84F1575C7F}"/>
              </a:ext>
            </a:extLst>
          </p:cNvPr>
          <p:cNvCxnSpPr>
            <a:cxnSpLocks/>
          </p:cNvCxnSpPr>
          <p:nvPr/>
        </p:nvCxnSpPr>
        <p:spPr bwMode="auto">
          <a:xfrm flipH="1">
            <a:off x="760413" y="5694363"/>
            <a:ext cx="79375" cy="107950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19" name="Straight Connector 337">
            <a:extLst>
              <a:ext uri="{FF2B5EF4-FFF2-40B4-BE49-F238E27FC236}">
                <a16:creationId xmlns:a16="http://schemas.microsoft.com/office/drawing/2014/main" id="{4413735A-133D-504F-2392-9CC2215B2E1E}"/>
              </a:ext>
            </a:extLst>
          </p:cNvPr>
          <p:cNvCxnSpPr>
            <a:cxnSpLocks/>
          </p:cNvCxnSpPr>
          <p:nvPr/>
        </p:nvCxnSpPr>
        <p:spPr bwMode="auto">
          <a:xfrm flipH="1">
            <a:off x="728663" y="5729288"/>
            <a:ext cx="128587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20" name="Straight Connector 338">
            <a:extLst>
              <a:ext uri="{FF2B5EF4-FFF2-40B4-BE49-F238E27FC236}">
                <a16:creationId xmlns:a16="http://schemas.microsoft.com/office/drawing/2014/main" id="{77516545-B25F-285F-B39E-06303207F895}"/>
              </a:ext>
            </a:extLst>
          </p:cNvPr>
          <p:cNvCxnSpPr>
            <a:cxnSpLocks/>
          </p:cNvCxnSpPr>
          <p:nvPr/>
        </p:nvCxnSpPr>
        <p:spPr bwMode="auto">
          <a:xfrm flipH="1">
            <a:off x="844550" y="5792788"/>
            <a:ext cx="80963" cy="107950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21" name="Straight Connector 339">
            <a:extLst>
              <a:ext uri="{FF2B5EF4-FFF2-40B4-BE49-F238E27FC236}">
                <a16:creationId xmlns:a16="http://schemas.microsoft.com/office/drawing/2014/main" id="{52CD90EF-5D44-8EC7-5385-C9EE5E94E87F}"/>
              </a:ext>
            </a:extLst>
          </p:cNvPr>
          <p:cNvCxnSpPr>
            <a:cxnSpLocks/>
          </p:cNvCxnSpPr>
          <p:nvPr/>
        </p:nvCxnSpPr>
        <p:spPr bwMode="auto">
          <a:xfrm flipH="1">
            <a:off x="765175" y="5815013"/>
            <a:ext cx="46038" cy="5080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22" name="Straight Connector 340">
            <a:extLst>
              <a:ext uri="{FF2B5EF4-FFF2-40B4-BE49-F238E27FC236}">
                <a16:creationId xmlns:a16="http://schemas.microsoft.com/office/drawing/2014/main" id="{F6290A19-5883-FFF6-2613-67EFDFE9AA69}"/>
              </a:ext>
            </a:extLst>
          </p:cNvPr>
          <p:cNvCxnSpPr>
            <a:cxnSpLocks/>
          </p:cNvCxnSpPr>
          <p:nvPr/>
        </p:nvCxnSpPr>
        <p:spPr bwMode="auto">
          <a:xfrm flipH="1">
            <a:off x="674688" y="5767388"/>
            <a:ext cx="96837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23" name="Straight Connector 341">
            <a:extLst>
              <a:ext uri="{FF2B5EF4-FFF2-40B4-BE49-F238E27FC236}">
                <a16:creationId xmlns:a16="http://schemas.microsoft.com/office/drawing/2014/main" id="{9EC4EFBF-8D5F-7A67-3A74-5D7FAB51B4DD}"/>
              </a:ext>
            </a:extLst>
          </p:cNvPr>
          <p:cNvCxnSpPr>
            <a:cxnSpLocks/>
          </p:cNvCxnSpPr>
          <p:nvPr/>
        </p:nvCxnSpPr>
        <p:spPr bwMode="auto">
          <a:xfrm flipH="1">
            <a:off x="763588" y="5761038"/>
            <a:ext cx="95250" cy="28575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24" name="Straight Connector 342">
            <a:extLst>
              <a:ext uri="{FF2B5EF4-FFF2-40B4-BE49-F238E27FC236}">
                <a16:creationId xmlns:a16="http://schemas.microsoft.com/office/drawing/2014/main" id="{39884704-CF5C-1FED-90E3-E21BB38BCFF5}"/>
              </a:ext>
            </a:extLst>
          </p:cNvPr>
          <p:cNvCxnSpPr>
            <a:cxnSpLocks/>
          </p:cNvCxnSpPr>
          <p:nvPr/>
        </p:nvCxnSpPr>
        <p:spPr bwMode="auto">
          <a:xfrm flipH="1">
            <a:off x="754063" y="5624513"/>
            <a:ext cx="106362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25" name="Straight Connector 343">
            <a:extLst>
              <a:ext uri="{FF2B5EF4-FFF2-40B4-BE49-F238E27FC236}">
                <a16:creationId xmlns:a16="http://schemas.microsoft.com/office/drawing/2014/main" id="{F3253AC3-C14A-FEF6-FFCE-E081D401BD5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87388" y="5805488"/>
            <a:ext cx="65087" cy="22225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C3A8F56D-C5DD-CC4F-9068-2218EDB47400}"/>
              </a:ext>
            </a:extLst>
          </p:cNvPr>
          <p:cNvSpPr/>
          <p:nvPr/>
        </p:nvSpPr>
        <p:spPr>
          <a:xfrm>
            <a:off x="1843088" y="5646738"/>
            <a:ext cx="377825" cy="180975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DDA3A8A9-4ABC-AC48-8AAF-6904AABCED9A}"/>
              </a:ext>
            </a:extLst>
          </p:cNvPr>
          <p:cNvSpPr/>
          <p:nvPr/>
        </p:nvSpPr>
        <p:spPr>
          <a:xfrm>
            <a:off x="3452813" y="5646738"/>
            <a:ext cx="377825" cy="180975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B75E9D59-24E4-6C4B-929E-8E189357DB5D}"/>
              </a:ext>
            </a:extLst>
          </p:cNvPr>
          <p:cNvSpPr/>
          <p:nvPr/>
        </p:nvSpPr>
        <p:spPr>
          <a:xfrm rot="5400000">
            <a:off x="1042988" y="4540250"/>
            <a:ext cx="379412" cy="185738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CE108A0-D109-5A4E-A8E0-20FFD3A4F582}"/>
              </a:ext>
            </a:extLst>
          </p:cNvPr>
          <p:cNvSpPr/>
          <p:nvPr/>
        </p:nvSpPr>
        <p:spPr>
          <a:xfrm>
            <a:off x="8682038" y="4192588"/>
            <a:ext cx="76200" cy="30797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7B4EB88F-877A-754B-9C9F-23F9E2B9D147}"/>
              </a:ext>
            </a:extLst>
          </p:cNvPr>
          <p:cNvSpPr/>
          <p:nvPr/>
        </p:nvSpPr>
        <p:spPr>
          <a:xfrm rot="5400000">
            <a:off x="4933950" y="682626"/>
            <a:ext cx="66675" cy="756920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4431" name="Straight Connector 355">
            <a:extLst>
              <a:ext uri="{FF2B5EF4-FFF2-40B4-BE49-F238E27FC236}">
                <a16:creationId xmlns:a16="http://schemas.microsoft.com/office/drawing/2014/main" id="{392621EE-7693-4BAD-4F67-A98B730EBB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64163" y="5635625"/>
            <a:ext cx="482600" cy="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2" name="Straight Connector 356">
            <a:extLst>
              <a:ext uri="{FF2B5EF4-FFF2-40B4-BE49-F238E27FC236}">
                <a16:creationId xmlns:a16="http://schemas.microsoft.com/office/drawing/2014/main" id="{2154E3FE-E0ED-998C-F275-E2447F8598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60988" y="5956300"/>
            <a:ext cx="482600" cy="0"/>
          </a:xfrm>
          <a:prstGeom prst="line">
            <a:avLst/>
          </a:prstGeom>
          <a:noFill/>
          <a:ln w="57150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33" name="TextBox 358">
            <a:extLst>
              <a:ext uri="{FF2B5EF4-FFF2-40B4-BE49-F238E27FC236}">
                <a16:creationId xmlns:a16="http://schemas.microsoft.com/office/drawing/2014/main" id="{9C2CFD83-3C80-B20A-0AF8-F34F269C2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38" y="5438775"/>
            <a:ext cx="2570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7F7F7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endogenous light PrP</a:t>
            </a:r>
          </a:p>
        </p:txBody>
      </p:sp>
      <p:sp>
        <p:nvSpPr>
          <p:cNvPr id="360" name="TextBox 307">
            <a:extLst>
              <a:ext uri="{FF2B5EF4-FFF2-40B4-BE49-F238E27FC236}">
                <a16:creationId xmlns:a16="http://schemas.microsoft.com/office/drawing/2014/main" id="{B37495FE-40F3-0949-BCAB-F7DFB413C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5749925"/>
            <a:ext cx="2970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800" b="1" kern="0">
                <a:solidFill>
                  <a:srgbClr val="00B050"/>
                </a:solidFill>
              </a:rPr>
              <a:t>uniformly </a:t>
            </a:r>
            <a:r>
              <a:rPr lang="en-US" altLang="en-US" sz="1800" b="1" kern="0" baseline="30000">
                <a:solidFill>
                  <a:srgbClr val="00B050"/>
                </a:solidFill>
              </a:rPr>
              <a:t>15</a:t>
            </a:r>
            <a:r>
              <a:rPr lang="en-US" altLang="en-US" sz="1800" b="1" kern="0">
                <a:solidFill>
                  <a:srgbClr val="00B050"/>
                </a:solidFill>
              </a:rPr>
              <a:t>N-labeled PrP</a:t>
            </a:r>
          </a:p>
        </p:txBody>
      </p:sp>
      <p:sp>
        <p:nvSpPr>
          <p:cNvPr id="362" name="TextBox 309">
            <a:extLst>
              <a:ext uri="{FF2B5EF4-FFF2-40B4-BE49-F238E27FC236}">
                <a16:creationId xmlns:a16="http://schemas.microsoft.com/office/drawing/2014/main" id="{D0E4A7BB-CE9D-5F4D-B2BE-2707E509F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5102225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800" u="sng" kern="0">
                <a:solidFill>
                  <a:srgbClr val="000000"/>
                </a:solidFill>
              </a:rPr>
              <a:t>legend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3334599-B34C-7E4E-A7E3-7C8BA7CEF296}"/>
              </a:ext>
            </a:extLst>
          </p:cNvPr>
          <p:cNvSpPr/>
          <p:nvPr/>
        </p:nvSpPr>
        <p:spPr>
          <a:xfrm>
            <a:off x="5207000" y="5075238"/>
            <a:ext cx="3551238" cy="11303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nip Same Side Corner Rectangle 219">
            <a:extLst>
              <a:ext uri="{FF2B5EF4-FFF2-40B4-BE49-F238E27FC236}">
                <a16:creationId xmlns:a16="http://schemas.microsoft.com/office/drawing/2014/main" id="{9231C69B-9591-1142-8DCE-A68C2C6E32A5}"/>
              </a:ext>
            </a:extLst>
          </p:cNvPr>
          <p:cNvSpPr/>
          <p:nvPr/>
        </p:nvSpPr>
        <p:spPr>
          <a:xfrm rot="10800000">
            <a:off x="1027113" y="2789238"/>
            <a:ext cx="481012" cy="1322387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1" name="Freeform 220">
            <a:extLst>
              <a:ext uri="{FF2B5EF4-FFF2-40B4-BE49-F238E27FC236}">
                <a16:creationId xmlns:a16="http://schemas.microsoft.com/office/drawing/2014/main" id="{5E5664BE-D286-194E-BB00-03925E969AA7}"/>
              </a:ext>
            </a:extLst>
          </p:cNvPr>
          <p:cNvSpPr/>
          <p:nvPr/>
        </p:nvSpPr>
        <p:spPr>
          <a:xfrm>
            <a:off x="1155700" y="3579813"/>
            <a:ext cx="223838" cy="296862"/>
          </a:xfrm>
          <a:custGeom>
            <a:avLst/>
            <a:gdLst>
              <a:gd name="connsiteX0" fmla="*/ 481913 w 655163"/>
              <a:gd name="connsiteY0" fmla="*/ 668686 h 681043"/>
              <a:gd name="connsiteX1" fmla="*/ 420129 w 655163"/>
              <a:gd name="connsiteY1" fmla="*/ 681043 h 681043"/>
              <a:gd name="connsiteX2" fmla="*/ 271848 w 655163"/>
              <a:gd name="connsiteY2" fmla="*/ 656330 h 681043"/>
              <a:gd name="connsiteX3" fmla="*/ 234778 w 655163"/>
              <a:gd name="connsiteY3" fmla="*/ 631616 h 681043"/>
              <a:gd name="connsiteX4" fmla="*/ 172994 w 655163"/>
              <a:gd name="connsiteY4" fmla="*/ 520405 h 681043"/>
              <a:gd name="connsiteX5" fmla="*/ 271848 w 655163"/>
              <a:gd name="connsiteY5" fmla="*/ 495692 h 681043"/>
              <a:gd name="connsiteX6" fmla="*/ 222421 w 655163"/>
              <a:gd name="connsiteY6" fmla="*/ 520405 h 681043"/>
              <a:gd name="connsiteX7" fmla="*/ 172994 w 655163"/>
              <a:gd name="connsiteY7" fmla="*/ 532762 h 681043"/>
              <a:gd name="connsiteX8" fmla="*/ 98854 w 655163"/>
              <a:gd name="connsiteY8" fmla="*/ 508048 h 681043"/>
              <a:gd name="connsiteX9" fmla="*/ 0 w 655163"/>
              <a:gd name="connsiteY9" fmla="*/ 335054 h 681043"/>
              <a:gd name="connsiteX10" fmla="*/ 12356 w 655163"/>
              <a:gd name="connsiteY10" fmla="*/ 199130 h 681043"/>
              <a:gd name="connsiteX11" fmla="*/ 24713 w 655163"/>
              <a:gd name="connsiteY11" fmla="*/ 162059 h 681043"/>
              <a:gd name="connsiteX12" fmla="*/ 37070 w 655163"/>
              <a:gd name="connsiteY12" fmla="*/ 100275 h 681043"/>
              <a:gd name="connsiteX13" fmla="*/ 123567 w 655163"/>
              <a:gd name="connsiteY13" fmla="*/ 13778 h 681043"/>
              <a:gd name="connsiteX14" fmla="*/ 160637 w 655163"/>
              <a:gd name="connsiteY14" fmla="*/ 1421 h 681043"/>
              <a:gd name="connsiteX15" fmla="*/ 247135 w 655163"/>
              <a:gd name="connsiteY15" fmla="*/ 13778 h 681043"/>
              <a:gd name="connsiteX16" fmla="*/ 234778 w 655163"/>
              <a:gd name="connsiteY16" fmla="*/ 112632 h 681043"/>
              <a:gd name="connsiteX17" fmla="*/ 222421 w 655163"/>
              <a:gd name="connsiteY17" fmla="*/ 162059 h 681043"/>
              <a:gd name="connsiteX18" fmla="*/ 210064 w 655163"/>
              <a:gd name="connsiteY18" fmla="*/ 236200 h 681043"/>
              <a:gd name="connsiteX19" fmla="*/ 383059 w 655163"/>
              <a:gd name="connsiteY19" fmla="*/ 260913 h 681043"/>
              <a:gd name="connsiteX20" fmla="*/ 432486 w 655163"/>
              <a:gd name="connsiteY20" fmla="*/ 273270 h 681043"/>
              <a:gd name="connsiteX21" fmla="*/ 469556 w 655163"/>
              <a:gd name="connsiteY21" fmla="*/ 297984 h 681043"/>
              <a:gd name="connsiteX22" fmla="*/ 506627 w 655163"/>
              <a:gd name="connsiteY22" fmla="*/ 310340 h 681043"/>
              <a:gd name="connsiteX23" fmla="*/ 481913 w 655163"/>
              <a:gd name="connsiteY23" fmla="*/ 409194 h 681043"/>
              <a:gd name="connsiteX24" fmla="*/ 580767 w 655163"/>
              <a:gd name="connsiteY24" fmla="*/ 421551 h 681043"/>
              <a:gd name="connsiteX25" fmla="*/ 593124 w 655163"/>
              <a:gd name="connsiteY25" fmla="*/ 458621 h 681043"/>
              <a:gd name="connsiteX26" fmla="*/ 630194 w 655163"/>
              <a:gd name="connsiteY26" fmla="*/ 470978 h 681043"/>
              <a:gd name="connsiteX27" fmla="*/ 654908 w 655163"/>
              <a:gd name="connsiteY27" fmla="*/ 508048 h 681043"/>
              <a:gd name="connsiteX28" fmla="*/ 642551 w 655163"/>
              <a:gd name="connsiteY28" fmla="*/ 545119 h 681043"/>
              <a:gd name="connsiteX29" fmla="*/ 642551 w 655163"/>
              <a:gd name="connsiteY29" fmla="*/ 569832 h 68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55163" h="681043">
                <a:moveTo>
                  <a:pt x="481913" y="668686"/>
                </a:moveTo>
                <a:cubicBezTo>
                  <a:pt x="461318" y="672805"/>
                  <a:pt x="441132" y="681043"/>
                  <a:pt x="420129" y="681043"/>
                </a:cubicBezTo>
                <a:cubicBezTo>
                  <a:pt x="337361" y="681043"/>
                  <a:pt x="329849" y="675663"/>
                  <a:pt x="271848" y="656330"/>
                </a:cubicBezTo>
                <a:cubicBezTo>
                  <a:pt x="259491" y="648092"/>
                  <a:pt x="244557" y="642793"/>
                  <a:pt x="234778" y="631616"/>
                </a:cubicBezTo>
                <a:cubicBezTo>
                  <a:pt x="189021" y="579322"/>
                  <a:pt x="189966" y="571320"/>
                  <a:pt x="172994" y="520405"/>
                </a:cubicBezTo>
                <a:cubicBezTo>
                  <a:pt x="188214" y="497575"/>
                  <a:pt x="222522" y="421701"/>
                  <a:pt x="271848" y="495692"/>
                </a:cubicBezTo>
                <a:cubicBezTo>
                  <a:pt x="282066" y="511019"/>
                  <a:pt x="239668" y="513937"/>
                  <a:pt x="222421" y="520405"/>
                </a:cubicBezTo>
                <a:cubicBezTo>
                  <a:pt x="206520" y="526368"/>
                  <a:pt x="189470" y="528643"/>
                  <a:pt x="172994" y="532762"/>
                </a:cubicBezTo>
                <a:cubicBezTo>
                  <a:pt x="148281" y="524524"/>
                  <a:pt x="118866" y="524725"/>
                  <a:pt x="98854" y="508048"/>
                </a:cubicBezTo>
                <a:cubicBezTo>
                  <a:pt x="29798" y="450501"/>
                  <a:pt x="24637" y="408965"/>
                  <a:pt x="0" y="335054"/>
                </a:cubicBezTo>
                <a:cubicBezTo>
                  <a:pt x="4119" y="289746"/>
                  <a:pt x="5922" y="244168"/>
                  <a:pt x="12356" y="199130"/>
                </a:cubicBezTo>
                <a:cubicBezTo>
                  <a:pt x="14198" y="186235"/>
                  <a:pt x="21554" y="174696"/>
                  <a:pt x="24713" y="162059"/>
                </a:cubicBezTo>
                <a:cubicBezTo>
                  <a:pt x="29807" y="141684"/>
                  <a:pt x="28540" y="119467"/>
                  <a:pt x="37070" y="100275"/>
                </a:cubicBezTo>
                <a:cubicBezTo>
                  <a:pt x="52494" y="65570"/>
                  <a:pt x="91667" y="32007"/>
                  <a:pt x="123567" y="13778"/>
                </a:cubicBezTo>
                <a:cubicBezTo>
                  <a:pt x="134876" y="7316"/>
                  <a:pt x="148280" y="5540"/>
                  <a:pt x="160637" y="1421"/>
                </a:cubicBezTo>
                <a:cubicBezTo>
                  <a:pt x="189470" y="5540"/>
                  <a:pt x="230979" y="-10456"/>
                  <a:pt x="247135" y="13778"/>
                </a:cubicBezTo>
                <a:cubicBezTo>
                  <a:pt x="265555" y="41409"/>
                  <a:pt x="240237" y="79876"/>
                  <a:pt x="234778" y="112632"/>
                </a:cubicBezTo>
                <a:cubicBezTo>
                  <a:pt x="231986" y="129384"/>
                  <a:pt x="225752" y="145406"/>
                  <a:pt x="222421" y="162059"/>
                </a:cubicBezTo>
                <a:cubicBezTo>
                  <a:pt x="217507" y="186627"/>
                  <a:pt x="214183" y="211486"/>
                  <a:pt x="210064" y="236200"/>
                </a:cubicBezTo>
                <a:cubicBezTo>
                  <a:pt x="299338" y="265958"/>
                  <a:pt x="202577" y="236849"/>
                  <a:pt x="383059" y="260913"/>
                </a:cubicBezTo>
                <a:cubicBezTo>
                  <a:pt x="399893" y="263157"/>
                  <a:pt x="416010" y="269151"/>
                  <a:pt x="432486" y="273270"/>
                </a:cubicBezTo>
                <a:cubicBezTo>
                  <a:pt x="444843" y="281508"/>
                  <a:pt x="456273" y="291343"/>
                  <a:pt x="469556" y="297984"/>
                </a:cubicBezTo>
                <a:cubicBezTo>
                  <a:pt x="481206" y="303809"/>
                  <a:pt x="502508" y="297983"/>
                  <a:pt x="506627" y="310340"/>
                </a:cubicBezTo>
                <a:cubicBezTo>
                  <a:pt x="511598" y="325251"/>
                  <a:pt x="488581" y="389189"/>
                  <a:pt x="481913" y="409194"/>
                </a:cubicBezTo>
                <a:cubicBezTo>
                  <a:pt x="514864" y="413313"/>
                  <a:pt x="550421" y="408064"/>
                  <a:pt x="580767" y="421551"/>
                </a:cubicBezTo>
                <a:cubicBezTo>
                  <a:pt x="592669" y="426841"/>
                  <a:pt x="583914" y="449411"/>
                  <a:pt x="593124" y="458621"/>
                </a:cubicBezTo>
                <a:cubicBezTo>
                  <a:pt x="602334" y="467831"/>
                  <a:pt x="617837" y="466859"/>
                  <a:pt x="630194" y="470978"/>
                </a:cubicBezTo>
                <a:cubicBezTo>
                  <a:pt x="638432" y="483335"/>
                  <a:pt x="652466" y="493399"/>
                  <a:pt x="654908" y="508048"/>
                </a:cubicBezTo>
                <a:cubicBezTo>
                  <a:pt x="657049" y="520896"/>
                  <a:pt x="645106" y="532347"/>
                  <a:pt x="642551" y="545119"/>
                </a:cubicBezTo>
                <a:cubicBezTo>
                  <a:pt x="640935" y="553197"/>
                  <a:pt x="642551" y="561594"/>
                  <a:pt x="642551" y="569832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3" name="Snip Same Side Corner Rectangle 222">
            <a:extLst>
              <a:ext uri="{FF2B5EF4-FFF2-40B4-BE49-F238E27FC236}">
                <a16:creationId xmlns:a16="http://schemas.microsoft.com/office/drawing/2014/main" id="{CE7C1B57-3417-7F44-AC78-5BBD57E6FCDB}"/>
              </a:ext>
            </a:extLst>
          </p:cNvPr>
          <p:cNvSpPr/>
          <p:nvPr/>
        </p:nvSpPr>
        <p:spPr>
          <a:xfrm rot="10800000">
            <a:off x="2590800" y="2808288"/>
            <a:ext cx="481013" cy="1322387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5" name="Freeform 224">
            <a:extLst>
              <a:ext uri="{FF2B5EF4-FFF2-40B4-BE49-F238E27FC236}">
                <a16:creationId xmlns:a16="http://schemas.microsoft.com/office/drawing/2014/main" id="{496B7D60-9091-3749-AC20-87529C1554A4}"/>
              </a:ext>
            </a:extLst>
          </p:cNvPr>
          <p:cNvSpPr/>
          <p:nvPr/>
        </p:nvSpPr>
        <p:spPr>
          <a:xfrm>
            <a:off x="2874963" y="3200400"/>
            <a:ext cx="68262" cy="771525"/>
          </a:xfrm>
          <a:custGeom>
            <a:avLst/>
            <a:gdLst>
              <a:gd name="connsiteX0" fmla="*/ 37070 w 61783"/>
              <a:gd name="connsiteY0" fmla="*/ 0 h 902043"/>
              <a:gd name="connsiteX1" fmla="*/ 24713 w 61783"/>
              <a:gd name="connsiteY1" fmla="*/ 148281 h 902043"/>
              <a:gd name="connsiteX2" fmla="*/ 0 w 61783"/>
              <a:gd name="connsiteY2" fmla="*/ 308919 h 902043"/>
              <a:gd name="connsiteX3" fmla="*/ 37070 w 61783"/>
              <a:gd name="connsiteY3" fmla="*/ 469557 h 902043"/>
              <a:gd name="connsiteX4" fmla="*/ 49427 w 61783"/>
              <a:gd name="connsiteY4" fmla="*/ 506627 h 902043"/>
              <a:gd name="connsiteX5" fmla="*/ 61783 w 61783"/>
              <a:gd name="connsiteY5" fmla="*/ 543697 h 902043"/>
              <a:gd name="connsiteX6" fmla="*/ 49427 w 61783"/>
              <a:gd name="connsiteY6" fmla="*/ 803189 h 902043"/>
              <a:gd name="connsiteX7" fmla="*/ 24713 w 61783"/>
              <a:gd name="connsiteY7" fmla="*/ 902043 h 90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83" h="902043">
                <a:moveTo>
                  <a:pt x="37070" y="0"/>
                </a:moveTo>
                <a:cubicBezTo>
                  <a:pt x="32951" y="49427"/>
                  <a:pt x="29905" y="98955"/>
                  <a:pt x="24713" y="148281"/>
                </a:cubicBezTo>
                <a:cubicBezTo>
                  <a:pt x="20172" y="191421"/>
                  <a:pt x="7372" y="264683"/>
                  <a:pt x="0" y="308919"/>
                </a:cubicBezTo>
                <a:cubicBezTo>
                  <a:pt x="16040" y="421204"/>
                  <a:pt x="3146" y="367786"/>
                  <a:pt x="37070" y="469557"/>
                </a:cubicBezTo>
                <a:lnTo>
                  <a:pt x="49427" y="506627"/>
                </a:lnTo>
                <a:lnTo>
                  <a:pt x="61783" y="543697"/>
                </a:lnTo>
                <a:cubicBezTo>
                  <a:pt x="57664" y="630194"/>
                  <a:pt x="58338" y="717053"/>
                  <a:pt x="49427" y="803189"/>
                </a:cubicBezTo>
                <a:cubicBezTo>
                  <a:pt x="45932" y="836974"/>
                  <a:pt x="24713" y="902043"/>
                  <a:pt x="24713" y="902043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6" name="Right Arrow 225">
            <a:extLst>
              <a:ext uri="{FF2B5EF4-FFF2-40B4-BE49-F238E27FC236}">
                <a16:creationId xmlns:a16="http://schemas.microsoft.com/office/drawing/2014/main" id="{B69CAA6B-5D0E-9046-9C98-8603A78B67F3}"/>
              </a:ext>
            </a:extLst>
          </p:cNvPr>
          <p:cNvSpPr/>
          <p:nvPr/>
        </p:nvSpPr>
        <p:spPr>
          <a:xfrm>
            <a:off x="1722438" y="3382963"/>
            <a:ext cx="666750" cy="173037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27" name="TextBox 18">
            <a:extLst>
              <a:ext uri="{FF2B5EF4-FFF2-40B4-BE49-F238E27FC236}">
                <a16:creationId xmlns:a16="http://schemas.microsoft.com/office/drawing/2014/main" id="{07E2B960-AD12-8444-921D-53084966F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2941638"/>
            <a:ext cx="1177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denaturation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reduction</a:t>
            </a:r>
          </a:p>
        </p:txBody>
      </p:sp>
      <p:sp>
        <p:nvSpPr>
          <p:cNvPr id="229" name="TextBox 23">
            <a:extLst>
              <a:ext uri="{FF2B5EF4-FFF2-40B4-BE49-F238E27FC236}">
                <a16:creationId xmlns:a16="http://schemas.microsoft.com/office/drawing/2014/main" id="{03CDD1CD-6D25-9C4A-8455-50A4A587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70088"/>
            <a:ext cx="20843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CSF or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0.5% brain homogenate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with 0.03% CHAPS</a:t>
            </a:r>
          </a:p>
        </p:txBody>
      </p:sp>
      <p:sp>
        <p:nvSpPr>
          <p:cNvPr id="230" name="Snip Same Side Corner Rectangle 229">
            <a:extLst>
              <a:ext uri="{FF2B5EF4-FFF2-40B4-BE49-F238E27FC236}">
                <a16:creationId xmlns:a16="http://schemas.microsoft.com/office/drawing/2014/main" id="{608EB8D9-012C-6645-B5FF-81C5C5AD98B5}"/>
              </a:ext>
            </a:extLst>
          </p:cNvPr>
          <p:cNvSpPr/>
          <p:nvPr/>
        </p:nvSpPr>
        <p:spPr>
          <a:xfrm rot="10800000">
            <a:off x="4059238" y="2794000"/>
            <a:ext cx="482600" cy="1322388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2" name="Freeform 231">
            <a:extLst>
              <a:ext uri="{FF2B5EF4-FFF2-40B4-BE49-F238E27FC236}">
                <a16:creationId xmlns:a16="http://schemas.microsoft.com/office/drawing/2014/main" id="{80024F90-8463-7846-A472-2227E0F91F95}"/>
              </a:ext>
            </a:extLst>
          </p:cNvPr>
          <p:cNvSpPr/>
          <p:nvPr/>
        </p:nvSpPr>
        <p:spPr>
          <a:xfrm>
            <a:off x="4343400" y="3186113"/>
            <a:ext cx="68263" cy="773112"/>
          </a:xfrm>
          <a:custGeom>
            <a:avLst/>
            <a:gdLst>
              <a:gd name="connsiteX0" fmla="*/ 37070 w 61783"/>
              <a:gd name="connsiteY0" fmla="*/ 0 h 902043"/>
              <a:gd name="connsiteX1" fmla="*/ 24713 w 61783"/>
              <a:gd name="connsiteY1" fmla="*/ 148281 h 902043"/>
              <a:gd name="connsiteX2" fmla="*/ 0 w 61783"/>
              <a:gd name="connsiteY2" fmla="*/ 308919 h 902043"/>
              <a:gd name="connsiteX3" fmla="*/ 37070 w 61783"/>
              <a:gd name="connsiteY3" fmla="*/ 469557 h 902043"/>
              <a:gd name="connsiteX4" fmla="*/ 49427 w 61783"/>
              <a:gd name="connsiteY4" fmla="*/ 506627 h 902043"/>
              <a:gd name="connsiteX5" fmla="*/ 61783 w 61783"/>
              <a:gd name="connsiteY5" fmla="*/ 543697 h 902043"/>
              <a:gd name="connsiteX6" fmla="*/ 49427 w 61783"/>
              <a:gd name="connsiteY6" fmla="*/ 803189 h 902043"/>
              <a:gd name="connsiteX7" fmla="*/ 24713 w 61783"/>
              <a:gd name="connsiteY7" fmla="*/ 902043 h 90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83" h="902043">
                <a:moveTo>
                  <a:pt x="37070" y="0"/>
                </a:moveTo>
                <a:cubicBezTo>
                  <a:pt x="32951" y="49427"/>
                  <a:pt x="29905" y="98955"/>
                  <a:pt x="24713" y="148281"/>
                </a:cubicBezTo>
                <a:cubicBezTo>
                  <a:pt x="20172" y="191421"/>
                  <a:pt x="7372" y="264683"/>
                  <a:pt x="0" y="308919"/>
                </a:cubicBezTo>
                <a:cubicBezTo>
                  <a:pt x="16040" y="421204"/>
                  <a:pt x="3146" y="367786"/>
                  <a:pt x="37070" y="469557"/>
                </a:cubicBezTo>
                <a:lnTo>
                  <a:pt x="49427" y="506627"/>
                </a:lnTo>
                <a:lnTo>
                  <a:pt x="61783" y="543697"/>
                </a:lnTo>
                <a:cubicBezTo>
                  <a:pt x="57664" y="630194"/>
                  <a:pt x="58338" y="717053"/>
                  <a:pt x="49427" y="803189"/>
                </a:cubicBezTo>
                <a:cubicBezTo>
                  <a:pt x="45932" y="836974"/>
                  <a:pt x="24713" y="902043"/>
                  <a:pt x="24713" y="902043"/>
                </a:cubicBezTo>
              </a:path>
            </a:pathLst>
          </a:custGeom>
          <a:noFill/>
          <a:ln w="5715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3" name="Right Arrow 232">
            <a:extLst>
              <a:ext uri="{FF2B5EF4-FFF2-40B4-BE49-F238E27FC236}">
                <a16:creationId xmlns:a16="http://schemas.microsoft.com/office/drawing/2014/main" id="{4D1573DC-3898-A14F-8094-8575923E1E85}"/>
              </a:ext>
            </a:extLst>
          </p:cNvPr>
          <p:cNvSpPr/>
          <p:nvPr/>
        </p:nvSpPr>
        <p:spPr>
          <a:xfrm>
            <a:off x="3263900" y="3368675"/>
            <a:ext cx="666750" cy="173038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4" name="TextBox 28">
            <a:extLst>
              <a:ext uri="{FF2B5EF4-FFF2-40B4-BE49-F238E27FC236}">
                <a16:creationId xmlns:a16="http://schemas.microsoft.com/office/drawing/2014/main" id="{6DA6B73E-2FE8-3643-B150-693BAFE33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038" y="3062288"/>
            <a:ext cx="930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alkylation</a:t>
            </a:r>
          </a:p>
        </p:txBody>
      </p:sp>
      <p:cxnSp>
        <p:nvCxnSpPr>
          <p:cNvPr id="15372" name="Straight Connector 235">
            <a:extLst>
              <a:ext uri="{FF2B5EF4-FFF2-40B4-BE49-F238E27FC236}">
                <a16:creationId xmlns:a16="http://schemas.microsoft.com/office/drawing/2014/main" id="{54210758-8441-1A24-259A-8560D11BDE7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362450" y="3317875"/>
            <a:ext cx="87313" cy="7938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7" name="Snip Same Side Corner Rectangle 236">
            <a:extLst>
              <a:ext uri="{FF2B5EF4-FFF2-40B4-BE49-F238E27FC236}">
                <a16:creationId xmlns:a16="http://schemas.microsoft.com/office/drawing/2014/main" id="{EA5A2F59-0055-0E44-B466-A43C4B328793}"/>
              </a:ext>
            </a:extLst>
          </p:cNvPr>
          <p:cNvSpPr/>
          <p:nvPr/>
        </p:nvSpPr>
        <p:spPr>
          <a:xfrm rot="10800000">
            <a:off x="5529263" y="2789238"/>
            <a:ext cx="482600" cy="1320800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8" name="Right Arrow 237">
            <a:extLst>
              <a:ext uri="{FF2B5EF4-FFF2-40B4-BE49-F238E27FC236}">
                <a16:creationId xmlns:a16="http://schemas.microsoft.com/office/drawing/2014/main" id="{C5B55532-4629-9044-BA4A-55CD0D77B40E}"/>
              </a:ext>
            </a:extLst>
          </p:cNvPr>
          <p:cNvSpPr/>
          <p:nvPr/>
        </p:nvSpPr>
        <p:spPr>
          <a:xfrm>
            <a:off x="4733925" y="3363913"/>
            <a:ext cx="665163" cy="171450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39" name="TextBox 37">
            <a:extLst>
              <a:ext uri="{FF2B5EF4-FFF2-40B4-BE49-F238E27FC236}">
                <a16:creationId xmlns:a16="http://schemas.microsoft.com/office/drawing/2014/main" id="{222A52DF-F571-984E-8A3B-4196C6B75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2913063"/>
            <a:ext cx="71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trypsin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digest</a:t>
            </a:r>
          </a:p>
        </p:txBody>
      </p:sp>
      <p:cxnSp>
        <p:nvCxnSpPr>
          <p:cNvPr id="15376" name="Straight Connector 240">
            <a:extLst>
              <a:ext uri="{FF2B5EF4-FFF2-40B4-BE49-F238E27FC236}">
                <a16:creationId xmlns:a16="http://schemas.microsoft.com/office/drawing/2014/main" id="{F647B6AA-B166-6690-62C5-D68E4AB42939}"/>
              </a:ext>
            </a:extLst>
          </p:cNvPr>
          <p:cNvCxnSpPr>
            <a:cxnSpLocks/>
          </p:cNvCxnSpPr>
          <p:nvPr/>
        </p:nvCxnSpPr>
        <p:spPr bwMode="auto">
          <a:xfrm flipH="1">
            <a:off x="5789613" y="3319463"/>
            <a:ext cx="128587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7" name="Straight Connector 242">
            <a:extLst>
              <a:ext uri="{FF2B5EF4-FFF2-40B4-BE49-F238E27FC236}">
                <a16:creationId xmlns:a16="http://schemas.microsoft.com/office/drawing/2014/main" id="{7C3E82A1-6FEB-8EE7-6F82-78CBB0D4968E}"/>
              </a:ext>
            </a:extLst>
          </p:cNvPr>
          <p:cNvCxnSpPr>
            <a:cxnSpLocks/>
          </p:cNvCxnSpPr>
          <p:nvPr/>
        </p:nvCxnSpPr>
        <p:spPr bwMode="auto">
          <a:xfrm flipH="1">
            <a:off x="5700713" y="3159125"/>
            <a:ext cx="106362" cy="84138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8" name="Straight Connector 245">
            <a:extLst>
              <a:ext uri="{FF2B5EF4-FFF2-40B4-BE49-F238E27FC236}">
                <a16:creationId xmlns:a16="http://schemas.microsoft.com/office/drawing/2014/main" id="{0FDCBDD4-835C-FA31-284B-029592E225E1}"/>
              </a:ext>
            </a:extLst>
          </p:cNvPr>
          <p:cNvCxnSpPr>
            <a:cxnSpLocks/>
          </p:cNvCxnSpPr>
          <p:nvPr/>
        </p:nvCxnSpPr>
        <p:spPr bwMode="auto">
          <a:xfrm flipH="1">
            <a:off x="5632450" y="3665538"/>
            <a:ext cx="106363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Straight Connector 246">
            <a:extLst>
              <a:ext uri="{FF2B5EF4-FFF2-40B4-BE49-F238E27FC236}">
                <a16:creationId xmlns:a16="http://schemas.microsoft.com/office/drawing/2014/main" id="{CE7A030A-BE4E-4288-56DD-4ADC525E83A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789613" y="3757613"/>
            <a:ext cx="127000" cy="17462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0" name="Snip Same Side Corner Rectangle 249">
            <a:extLst>
              <a:ext uri="{FF2B5EF4-FFF2-40B4-BE49-F238E27FC236}">
                <a16:creationId xmlns:a16="http://schemas.microsoft.com/office/drawing/2014/main" id="{F9E3506E-3365-C143-96FA-BDEA06013FF2}"/>
              </a:ext>
            </a:extLst>
          </p:cNvPr>
          <p:cNvSpPr/>
          <p:nvPr/>
        </p:nvSpPr>
        <p:spPr>
          <a:xfrm rot="10800000">
            <a:off x="6362700" y="2771775"/>
            <a:ext cx="481013" cy="1322388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51" name="TextBox 57">
            <a:extLst>
              <a:ext uri="{FF2B5EF4-FFF2-40B4-BE49-F238E27FC236}">
                <a16:creationId xmlns:a16="http://schemas.microsoft.com/office/drawing/2014/main" id="{0FF0D5E6-80E6-F249-95D1-55FB2C90F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725" y="1798638"/>
            <a:ext cx="8604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spike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heavy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peptides</a:t>
            </a:r>
          </a:p>
        </p:txBody>
      </p:sp>
      <p:sp>
        <p:nvSpPr>
          <p:cNvPr id="252" name="Right Arrow 251">
            <a:extLst>
              <a:ext uri="{FF2B5EF4-FFF2-40B4-BE49-F238E27FC236}">
                <a16:creationId xmlns:a16="http://schemas.microsoft.com/office/drawing/2014/main" id="{12398EA6-70CF-6C4F-B1E3-A39807E05EA1}"/>
              </a:ext>
            </a:extLst>
          </p:cNvPr>
          <p:cNvSpPr/>
          <p:nvPr/>
        </p:nvSpPr>
        <p:spPr>
          <a:xfrm>
            <a:off x="6100763" y="3357563"/>
            <a:ext cx="196850" cy="185737"/>
          </a:xfrm>
          <a:prstGeom prst="rightArrow">
            <a:avLst/>
          </a:prstGeom>
          <a:solidFill>
            <a:srgbClr val="000000"/>
          </a:solidFill>
          <a:ln w="5715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53" name="Right Arrow 252">
            <a:extLst>
              <a:ext uri="{FF2B5EF4-FFF2-40B4-BE49-F238E27FC236}">
                <a16:creationId xmlns:a16="http://schemas.microsoft.com/office/drawing/2014/main" id="{6DC2F342-0EE5-D045-B73F-BCB130A1EF83}"/>
              </a:ext>
            </a:extLst>
          </p:cNvPr>
          <p:cNvSpPr/>
          <p:nvPr/>
        </p:nvSpPr>
        <p:spPr>
          <a:xfrm rot="5400000">
            <a:off x="6486525" y="2533651"/>
            <a:ext cx="231775" cy="127000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5384" name="Straight Connector 254">
            <a:extLst>
              <a:ext uri="{FF2B5EF4-FFF2-40B4-BE49-F238E27FC236}">
                <a16:creationId xmlns:a16="http://schemas.microsoft.com/office/drawing/2014/main" id="{44BBF3BC-36EC-B7F6-4321-23341C305E6E}"/>
              </a:ext>
            </a:extLst>
          </p:cNvPr>
          <p:cNvCxnSpPr>
            <a:cxnSpLocks/>
          </p:cNvCxnSpPr>
          <p:nvPr/>
        </p:nvCxnSpPr>
        <p:spPr bwMode="auto">
          <a:xfrm flipH="1">
            <a:off x="6632575" y="3311525"/>
            <a:ext cx="128588" cy="1746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5" name="Straight Connector 256">
            <a:extLst>
              <a:ext uri="{FF2B5EF4-FFF2-40B4-BE49-F238E27FC236}">
                <a16:creationId xmlns:a16="http://schemas.microsoft.com/office/drawing/2014/main" id="{8EB8B548-40A8-15AB-510C-E4DE9D213B4B}"/>
              </a:ext>
            </a:extLst>
          </p:cNvPr>
          <p:cNvCxnSpPr>
            <a:cxnSpLocks/>
          </p:cNvCxnSpPr>
          <p:nvPr/>
        </p:nvCxnSpPr>
        <p:spPr bwMode="auto">
          <a:xfrm flipH="1">
            <a:off x="6542088" y="3151188"/>
            <a:ext cx="106362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6" name="Straight Connector 259">
            <a:extLst>
              <a:ext uri="{FF2B5EF4-FFF2-40B4-BE49-F238E27FC236}">
                <a16:creationId xmlns:a16="http://schemas.microsoft.com/office/drawing/2014/main" id="{51F55D88-0523-9858-E04D-9C49C3287B56}"/>
              </a:ext>
            </a:extLst>
          </p:cNvPr>
          <p:cNvCxnSpPr>
            <a:cxnSpLocks/>
          </p:cNvCxnSpPr>
          <p:nvPr/>
        </p:nvCxnSpPr>
        <p:spPr bwMode="auto">
          <a:xfrm flipH="1">
            <a:off x="6473825" y="3656013"/>
            <a:ext cx="106363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7" name="Straight Connector 260">
            <a:extLst>
              <a:ext uri="{FF2B5EF4-FFF2-40B4-BE49-F238E27FC236}">
                <a16:creationId xmlns:a16="http://schemas.microsoft.com/office/drawing/2014/main" id="{BC643C7C-9D20-565B-7C8F-53136FF1929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632575" y="3748088"/>
            <a:ext cx="127000" cy="17462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8" name="Straight Connector 261">
            <a:extLst>
              <a:ext uri="{FF2B5EF4-FFF2-40B4-BE49-F238E27FC236}">
                <a16:creationId xmlns:a16="http://schemas.microsoft.com/office/drawing/2014/main" id="{4F27D054-D6DF-D7C6-686D-070D3E179B2B}"/>
              </a:ext>
            </a:extLst>
          </p:cNvPr>
          <p:cNvCxnSpPr>
            <a:cxnSpLocks/>
          </p:cNvCxnSpPr>
          <p:nvPr/>
        </p:nvCxnSpPr>
        <p:spPr bwMode="auto">
          <a:xfrm flipH="1">
            <a:off x="6678613" y="3413125"/>
            <a:ext cx="47625" cy="8096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9" name="Straight Connector 262">
            <a:extLst>
              <a:ext uri="{FF2B5EF4-FFF2-40B4-BE49-F238E27FC236}">
                <a16:creationId xmlns:a16="http://schemas.microsoft.com/office/drawing/2014/main" id="{B70F3E02-C23D-A4B0-0AA1-7CADC0A9468A}"/>
              </a:ext>
            </a:extLst>
          </p:cNvPr>
          <p:cNvCxnSpPr>
            <a:cxnSpLocks/>
          </p:cNvCxnSpPr>
          <p:nvPr/>
        </p:nvCxnSpPr>
        <p:spPr bwMode="auto">
          <a:xfrm flipH="1">
            <a:off x="6632575" y="3636963"/>
            <a:ext cx="128588" cy="1746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0" name="Straight Connector 263">
            <a:extLst>
              <a:ext uri="{FF2B5EF4-FFF2-40B4-BE49-F238E27FC236}">
                <a16:creationId xmlns:a16="http://schemas.microsoft.com/office/drawing/2014/main" id="{8BD018F3-3614-ACE4-FDE1-DFEA6CBBAD3F}"/>
              </a:ext>
            </a:extLst>
          </p:cNvPr>
          <p:cNvCxnSpPr>
            <a:cxnSpLocks/>
          </p:cNvCxnSpPr>
          <p:nvPr/>
        </p:nvCxnSpPr>
        <p:spPr bwMode="auto">
          <a:xfrm flipH="1">
            <a:off x="6408738" y="3433763"/>
            <a:ext cx="128587" cy="1905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1" name="Straight Connector 264">
            <a:extLst>
              <a:ext uri="{FF2B5EF4-FFF2-40B4-BE49-F238E27FC236}">
                <a16:creationId xmlns:a16="http://schemas.microsoft.com/office/drawing/2014/main" id="{B639F03B-5B4A-4CC9-F69C-E8FBA6E6564E}"/>
              </a:ext>
            </a:extLst>
          </p:cNvPr>
          <p:cNvCxnSpPr>
            <a:cxnSpLocks/>
          </p:cNvCxnSpPr>
          <p:nvPr/>
        </p:nvCxnSpPr>
        <p:spPr bwMode="auto">
          <a:xfrm flipH="1">
            <a:off x="6548438" y="3951288"/>
            <a:ext cx="130175" cy="1905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2" name="Straight Connector 265">
            <a:extLst>
              <a:ext uri="{FF2B5EF4-FFF2-40B4-BE49-F238E27FC236}">
                <a16:creationId xmlns:a16="http://schemas.microsoft.com/office/drawing/2014/main" id="{68FA9B52-0D73-64C3-D4C8-05C39DF06A8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451600" y="3800475"/>
            <a:ext cx="60325" cy="1746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3" name="Straight Connector 266">
            <a:extLst>
              <a:ext uri="{FF2B5EF4-FFF2-40B4-BE49-F238E27FC236}">
                <a16:creationId xmlns:a16="http://schemas.microsoft.com/office/drawing/2014/main" id="{C6F67BFF-38B4-298F-AB39-8FF7B2382117}"/>
              </a:ext>
            </a:extLst>
          </p:cNvPr>
          <p:cNvCxnSpPr>
            <a:cxnSpLocks/>
          </p:cNvCxnSpPr>
          <p:nvPr/>
        </p:nvCxnSpPr>
        <p:spPr bwMode="auto">
          <a:xfrm flipH="1">
            <a:off x="6408738" y="3540125"/>
            <a:ext cx="55562" cy="1111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2292204E-1E37-7B42-9D4A-C3464D6FA23F}"/>
              </a:ext>
            </a:extLst>
          </p:cNvPr>
          <p:cNvSpPr/>
          <p:nvPr/>
        </p:nvSpPr>
        <p:spPr>
          <a:xfrm>
            <a:off x="7031038" y="3335338"/>
            <a:ext cx="379412" cy="184150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69" name="Snip Same Side Corner Rectangle 268">
            <a:extLst>
              <a:ext uri="{FF2B5EF4-FFF2-40B4-BE49-F238E27FC236}">
                <a16:creationId xmlns:a16="http://schemas.microsoft.com/office/drawing/2014/main" id="{9625839D-092F-EA40-B018-7955245048F3}"/>
              </a:ext>
            </a:extLst>
          </p:cNvPr>
          <p:cNvSpPr/>
          <p:nvPr/>
        </p:nvSpPr>
        <p:spPr>
          <a:xfrm rot="10800000">
            <a:off x="7512050" y="3389313"/>
            <a:ext cx="403225" cy="735012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5396" name="Straight Connector 270">
            <a:extLst>
              <a:ext uri="{FF2B5EF4-FFF2-40B4-BE49-F238E27FC236}">
                <a16:creationId xmlns:a16="http://schemas.microsoft.com/office/drawing/2014/main" id="{DC3C9AF5-30AE-CACD-BAC3-664EFCF53C25}"/>
              </a:ext>
            </a:extLst>
          </p:cNvPr>
          <p:cNvCxnSpPr>
            <a:cxnSpLocks/>
          </p:cNvCxnSpPr>
          <p:nvPr/>
        </p:nvCxnSpPr>
        <p:spPr bwMode="auto">
          <a:xfrm flipH="1">
            <a:off x="7645400" y="3140075"/>
            <a:ext cx="128588" cy="1746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7" name="Straight Connector 272">
            <a:extLst>
              <a:ext uri="{FF2B5EF4-FFF2-40B4-BE49-F238E27FC236}">
                <a16:creationId xmlns:a16="http://schemas.microsoft.com/office/drawing/2014/main" id="{BF979A51-C593-6294-C147-BCBFCBFC68A0}"/>
              </a:ext>
            </a:extLst>
          </p:cNvPr>
          <p:cNvCxnSpPr>
            <a:cxnSpLocks/>
          </p:cNvCxnSpPr>
          <p:nvPr/>
        </p:nvCxnSpPr>
        <p:spPr bwMode="auto">
          <a:xfrm flipH="1">
            <a:off x="7683500" y="3225800"/>
            <a:ext cx="44450" cy="4921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8" name="Straight Connector 275">
            <a:extLst>
              <a:ext uri="{FF2B5EF4-FFF2-40B4-BE49-F238E27FC236}">
                <a16:creationId xmlns:a16="http://schemas.microsoft.com/office/drawing/2014/main" id="{4901C5DF-9572-AF19-AE0A-BE742E60D28A}"/>
              </a:ext>
            </a:extLst>
          </p:cNvPr>
          <p:cNvCxnSpPr>
            <a:cxnSpLocks/>
          </p:cNvCxnSpPr>
          <p:nvPr/>
        </p:nvCxnSpPr>
        <p:spPr bwMode="auto">
          <a:xfrm flipH="1">
            <a:off x="7670800" y="3033713"/>
            <a:ext cx="106363" cy="84137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9" name="Straight Connector 276">
            <a:extLst>
              <a:ext uri="{FF2B5EF4-FFF2-40B4-BE49-F238E27FC236}">
                <a16:creationId xmlns:a16="http://schemas.microsoft.com/office/drawing/2014/main" id="{26C3874E-DDE8-9405-A365-67ABFB6D316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670800" y="3001963"/>
            <a:ext cx="65088" cy="20637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0" name="Straight Connector 277">
            <a:extLst>
              <a:ext uri="{FF2B5EF4-FFF2-40B4-BE49-F238E27FC236}">
                <a16:creationId xmlns:a16="http://schemas.microsoft.com/office/drawing/2014/main" id="{46B59557-FF87-FC53-1A67-6CD87FF30346}"/>
              </a:ext>
            </a:extLst>
          </p:cNvPr>
          <p:cNvCxnSpPr>
            <a:cxnSpLocks/>
          </p:cNvCxnSpPr>
          <p:nvPr/>
        </p:nvCxnSpPr>
        <p:spPr bwMode="auto">
          <a:xfrm flipH="1">
            <a:off x="7651750" y="2876550"/>
            <a:ext cx="47625" cy="79375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1" name="Straight Connector 278">
            <a:extLst>
              <a:ext uri="{FF2B5EF4-FFF2-40B4-BE49-F238E27FC236}">
                <a16:creationId xmlns:a16="http://schemas.microsoft.com/office/drawing/2014/main" id="{6DF1CA2F-07E5-1F4D-A004-78CFD02DD918}"/>
              </a:ext>
            </a:extLst>
          </p:cNvPr>
          <p:cNvCxnSpPr>
            <a:cxnSpLocks/>
          </p:cNvCxnSpPr>
          <p:nvPr/>
        </p:nvCxnSpPr>
        <p:spPr bwMode="auto">
          <a:xfrm flipH="1">
            <a:off x="7629525" y="3014663"/>
            <a:ext cx="128588" cy="1905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2" name="Straight Connector 279">
            <a:extLst>
              <a:ext uri="{FF2B5EF4-FFF2-40B4-BE49-F238E27FC236}">
                <a16:creationId xmlns:a16="http://schemas.microsoft.com/office/drawing/2014/main" id="{03026321-2607-AD5F-6C11-198734E8ECDA}"/>
              </a:ext>
            </a:extLst>
          </p:cNvPr>
          <p:cNvCxnSpPr>
            <a:cxnSpLocks/>
          </p:cNvCxnSpPr>
          <p:nvPr/>
        </p:nvCxnSpPr>
        <p:spPr bwMode="auto">
          <a:xfrm flipH="1">
            <a:off x="7686675" y="2895600"/>
            <a:ext cx="47625" cy="6826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3" name="Straight Connector 280">
            <a:extLst>
              <a:ext uri="{FF2B5EF4-FFF2-40B4-BE49-F238E27FC236}">
                <a16:creationId xmlns:a16="http://schemas.microsoft.com/office/drawing/2014/main" id="{A24BE416-DA9F-8DDC-E7BF-2B474860B56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672388" y="3275013"/>
            <a:ext cx="65087" cy="7461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4" name="Straight Connector 281">
            <a:extLst>
              <a:ext uri="{FF2B5EF4-FFF2-40B4-BE49-F238E27FC236}">
                <a16:creationId xmlns:a16="http://schemas.microsoft.com/office/drawing/2014/main" id="{64FD3E54-A4C2-A1F4-EE2A-A441EA411DE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658100" y="3048000"/>
            <a:ext cx="60325" cy="15875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5" name="Straight Connector 282">
            <a:extLst>
              <a:ext uri="{FF2B5EF4-FFF2-40B4-BE49-F238E27FC236}">
                <a16:creationId xmlns:a16="http://schemas.microsoft.com/office/drawing/2014/main" id="{F4D2AF88-519D-F91E-52C2-536765D7BB91}"/>
              </a:ext>
            </a:extLst>
          </p:cNvPr>
          <p:cNvCxnSpPr>
            <a:cxnSpLocks/>
          </p:cNvCxnSpPr>
          <p:nvPr/>
        </p:nvCxnSpPr>
        <p:spPr bwMode="auto">
          <a:xfrm flipH="1">
            <a:off x="7643813" y="2917825"/>
            <a:ext cx="55562" cy="1270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4" name="Trapezoid 283">
            <a:extLst>
              <a:ext uri="{FF2B5EF4-FFF2-40B4-BE49-F238E27FC236}">
                <a16:creationId xmlns:a16="http://schemas.microsoft.com/office/drawing/2014/main" id="{C1190D19-045A-9C49-9F45-36890FF618FE}"/>
              </a:ext>
            </a:extLst>
          </p:cNvPr>
          <p:cNvSpPr/>
          <p:nvPr/>
        </p:nvSpPr>
        <p:spPr>
          <a:xfrm rot="10800000">
            <a:off x="7599363" y="2516188"/>
            <a:ext cx="227012" cy="846137"/>
          </a:xfrm>
          <a:prstGeom prst="trapezoid">
            <a:avLst>
              <a:gd name="adj" fmla="val 36348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85" name="TextBox 103">
            <a:extLst>
              <a:ext uri="{FF2B5EF4-FFF2-40B4-BE49-F238E27FC236}">
                <a16:creationId xmlns:a16="http://schemas.microsoft.com/office/drawing/2014/main" id="{8C238EF9-C902-9342-AE57-8ACEFFF08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8150" y="2833688"/>
            <a:ext cx="895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StageTip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desalt</a:t>
            </a:r>
          </a:p>
        </p:txBody>
      </p:sp>
      <p:sp>
        <p:nvSpPr>
          <p:cNvPr id="286" name="Right Arrow 285">
            <a:extLst>
              <a:ext uri="{FF2B5EF4-FFF2-40B4-BE49-F238E27FC236}">
                <a16:creationId xmlns:a16="http://schemas.microsoft.com/office/drawing/2014/main" id="{9701276A-5101-844B-8BD4-6306C70F0573}"/>
              </a:ext>
            </a:extLst>
          </p:cNvPr>
          <p:cNvSpPr/>
          <p:nvPr/>
        </p:nvSpPr>
        <p:spPr>
          <a:xfrm>
            <a:off x="8002588" y="3344863"/>
            <a:ext cx="379412" cy="185737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287" name="Snip Same Side Corner Rectangle 286">
            <a:extLst>
              <a:ext uri="{FF2B5EF4-FFF2-40B4-BE49-F238E27FC236}">
                <a16:creationId xmlns:a16="http://schemas.microsoft.com/office/drawing/2014/main" id="{F4516DC4-5BAD-0E43-BEEE-42FA613FFB53}"/>
              </a:ext>
            </a:extLst>
          </p:cNvPr>
          <p:cNvSpPr/>
          <p:nvPr/>
        </p:nvSpPr>
        <p:spPr>
          <a:xfrm rot="10800000">
            <a:off x="8512175" y="3398838"/>
            <a:ext cx="404813" cy="735012"/>
          </a:xfrm>
          <a:prstGeom prst="snip2SameRect">
            <a:avLst>
              <a:gd name="adj1" fmla="val 42308"/>
              <a:gd name="adj2" fmla="val 0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5410" name="Straight Connector 288">
            <a:extLst>
              <a:ext uri="{FF2B5EF4-FFF2-40B4-BE49-F238E27FC236}">
                <a16:creationId xmlns:a16="http://schemas.microsoft.com/office/drawing/2014/main" id="{F847880C-5C89-468B-13E0-27998EFBDD6D}"/>
              </a:ext>
            </a:extLst>
          </p:cNvPr>
          <p:cNvCxnSpPr>
            <a:cxnSpLocks/>
          </p:cNvCxnSpPr>
          <p:nvPr/>
        </p:nvCxnSpPr>
        <p:spPr bwMode="auto">
          <a:xfrm flipH="1">
            <a:off x="8605838" y="3902075"/>
            <a:ext cx="128587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1" name="Straight Connector 290">
            <a:extLst>
              <a:ext uri="{FF2B5EF4-FFF2-40B4-BE49-F238E27FC236}">
                <a16:creationId xmlns:a16="http://schemas.microsoft.com/office/drawing/2014/main" id="{4A6667DE-DB6C-50CC-D3F8-E5C5E8052F0C}"/>
              </a:ext>
            </a:extLst>
          </p:cNvPr>
          <p:cNvCxnSpPr>
            <a:cxnSpLocks/>
          </p:cNvCxnSpPr>
          <p:nvPr/>
        </p:nvCxnSpPr>
        <p:spPr bwMode="auto">
          <a:xfrm flipH="1">
            <a:off x="8683625" y="3960813"/>
            <a:ext cx="44450" cy="5080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2" name="Straight Connector 293">
            <a:extLst>
              <a:ext uri="{FF2B5EF4-FFF2-40B4-BE49-F238E27FC236}">
                <a16:creationId xmlns:a16="http://schemas.microsoft.com/office/drawing/2014/main" id="{1C849FF0-8D9E-00D9-C608-D820848FB0BB}"/>
              </a:ext>
            </a:extLst>
          </p:cNvPr>
          <p:cNvCxnSpPr>
            <a:cxnSpLocks/>
          </p:cNvCxnSpPr>
          <p:nvPr/>
        </p:nvCxnSpPr>
        <p:spPr bwMode="auto">
          <a:xfrm flipH="1">
            <a:off x="8672513" y="3770313"/>
            <a:ext cx="104775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3" name="Straight Connector 295">
            <a:extLst>
              <a:ext uri="{FF2B5EF4-FFF2-40B4-BE49-F238E27FC236}">
                <a16:creationId xmlns:a16="http://schemas.microsoft.com/office/drawing/2014/main" id="{571FF3D0-1510-0FE4-84EF-95A4AE04F2EE}"/>
              </a:ext>
            </a:extLst>
          </p:cNvPr>
          <p:cNvCxnSpPr>
            <a:cxnSpLocks/>
          </p:cNvCxnSpPr>
          <p:nvPr/>
        </p:nvCxnSpPr>
        <p:spPr bwMode="auto">
          <a:xfrm flipH="1">
            <a:off x="8713788" y="3959225"/>
            <a:ext cx="47625" cy="79375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4" name="Straight Connector 296">
            <a:extLst>
              <a:ext uri="{FF2B5EF4-FFF2-40B4-BE49-F238E27FC236}">
                <a16:creationId xmlns:a16="http://schemas.microsoft.com/office/drawing/2014/main" id="{4D07BED2-CE61-B89E-62C8-5DB7FA8CBA85}"/>
              </a:ext>
            </a:extLst>
          </p:cNvPr>
          <p:cNvCxnSpPr>
            <a:cxnSpLocks/>
          </p:cNvCxnSpPr>
          <p:nvPr/>
        </p:nvCxnSpPr>
        <p:spPr bwMode="auto">
          <a:xfrm flipH="1">
            <a:off x="8562975" y="3965575"/>
            <a:ext cx="128588" cy="1746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5" name="Straight Connector 297">
            <a:extLst>
              <a:ext uri="{FF2B5EF4-FFF2-40B4-BE49-F238E27FC236}">
                <a16:creationId xmlns:a16="http://schemas.microsoft.com/office/drawing/2014/main" id="{61BE8D51-BDFC-53A3-E920-95374AD82A88}"/>
              </a:ext>
            </a:extLst>
          </p:cNvPr>
          <p:cNvCxnSpPr>
            <a:cxnSpLocks/>
          </p:cNvCxnSpPr>
          <p:nvPr/>
        </p:nvCxnSpPr>
        <p:spPr bwMode="auto">
          <a:xfrm flipH="1">
            <a:off x="8621713" y="3846513"/>
            <a:ext cx="46037" cy="66675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6" name="Straight Connector 298">
            <a:extLst>
              <a:ext uri="{FF2B5EF4-FFF2-40B4-BE49-F238E27FC236}">
                <a16:creationId xmlns:a16="http://schemas.microsoft.com/office/drawing/2014/main" id="{446D73E5-BC5C-6BD0-FADD-B7AE23B5AEA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672513" y="4011613"/>
            <a:ext cx="66675" cy="7461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7" name="Straight Connector 299">
            <a:extLst>
              <a:ext uri="{FF2B5EF4-FFF2-40B4-BE49-F238E27FC236}">
                <a16:creationId xmlns:a16="http://schemas.microsoft.com/office/drawing/2014/main" id="{EA5A0637-CBE3-ED44-7619-5DFE5EDAB83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593138" y="3997325"/>
            <a:ext cx="60325" cy="1746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2" name="Trapezoid 301">
            <a:extLst>
              <a:ext uri="{FF2B5EF4-FFF2-40B4-BE49-F238E27FC236}">
                <a16:creationId xmlns:a16="http://schemas.microsoft.com/office/drawing/2014/main" id="{55F07268-1557-4E43-BB55-AB6754C3B09E}"/>
              </a:ext>
            </a:extLst>
          </p:cNvPr>
          <p:cNvSpPr/>
          <p:nvPr/>
        </p:nvSpPr>
        <p:spPr>
          <a:xfrm rot="10800000">
            <a:off x="8599488" y="2525713"/>
            <a:ext cx="227012" cy="847725"/>
          </a:xfrm>
          <a:prstGeom prst="trapezoid">
            <a:avLst>
              <a:gd name="adj" fmla="val 36348"/>
            </a:avLst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03" name="TextBox 121">
            <a:extLst>
              <a:ext uri="{FF2B5EF4-FFF2-40B4-BE49-F238E27FC236}">
                <a16:creationId xmlns:a16="http://schemas.microsoft.com/office/drawing/2014/main" id="{B838A79C-FF08-B94E-A189-6984B8CFB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863" y="2843213"/>
            <a:ext cx="89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StageTip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elute</a:t>
            </a:r>
          </a:p>
        </p:txBody>
      </p:sp>
      <p:cxnSp>
        <p:nvCxnSpPr>
          <p:cNvPr id="15420" name="Straight Connector 303">
            <a:extLst>
              <a:ext uri="{FF2B5EF4-FFF2-40B4-BE49-F238E27FC236}">
                <a16:creationId xmlns:a16="http://schemas.microsoft.com/office/drawing/2014/main" id="{06465AA9-A8E0-62F3-2CD6-69B2606AD7F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4175" y="5322888"/>
            <a:ext cx="815975" cy="4635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1" name="Straight Connector 304">
            <a:extLst>
              <a:ext uri="{FF2B5EF4-FFF2-40B4-BE49-F238E27FC236}">
                <a16:creationId xmlns:a16="http://schemas.microsoft.com/office/drawing/2014/main" id="{D56698CB-627B-7327-F01F-C32FCEFBCED9}"/>
              </a:ext>
            </a:extLst>
          </p:cNvPr>
          <p:cNvCxnSpPr>
            <a:cxnSpLocks/>
          </p:cNvCxnSpPr>
          <p:nvPr/>
        </p:nvCxnSpPr>
        <p:spPr bwMode="auto">
          <a:xfrm flipV="1">
            <a:off x="384175" y="5419725"/>
            <a:ext cx="815975" cy="366713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2" name="Straight Connector 305">
            <a:extLst>
              <a:ext uri="{FF2B5EF4-FFF2-40B4-BE49-F238E27FC236}">
                <a16:creationId xmlns:a16="http://schemas.microsoft.com/office/drawing/2014/main" id="{DA76D54D-4943-A9F2-4AB9-5834064581F5}"/>
              </a:ext>
            </a:extLst>
          </p:cNvPr>
          <p:cNvCxnSpPr>
            <a:cxnSpLocks/>
          </p:cNvCxnSpPr>
          <p:nvPr/>
        </p:nvCxnSpPr>
        <p:spPr bwMode="auto">
          <a:xfrm flipV="1">
            <a:off x="384175" y="5526088"/>
            <a:ext cx="815975" cy="2603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3" name="Straight Connector 306">
            <a:extLst>
              <a:ext uri="{FF2B5EF4-FFF2-40B4-BE49-F238E27FC236}">
                <a16:creationId xmlns:a16="http://schemas.microsoft.com/office/drawing/2014/main" id="{96947438-2495-155B-8B38-EC35F975DB27}"/>
              </a:ext>
            </a:extLst>
          </p:cNvPr>
          <p:cNvCxnSpPr>
            <a:cxnSpLocks/>
          </p:cNvCxnSpPr>
          <p:nvPr/>
        </p:nvCxnSpPr>
        <p:spPr bwMode="auto">
          <a:xfrm flipV="1">
            <a:off x="403225" y="5638800"/>
            <a:ext cx="809625" cy="14287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4" name="Straight Connector 307">
            <a:extLst>
              <a:ext uri="{FF2B5EF4-FFF2-40B4-BE49-F238E27FC236}">
                <a16:creationId xmlns:a16="http://schemas.microsoft.com/office/drawing/2014/main" id="{9063F265-50A8-A23D-1B66-81757440FA0B}"/>
              </a:ext>
            </a:extLst>
          </p:cNvPr>
          <p:cNvCxnSpPr>
            <a:cxnSpLocks/>
          </p:cNvCxnSpPr>
          <p:nvPr/>
        </p:nvCxnSpPr>
        <p:spPr bwMode="auto">
          <a:xfrm flipV="1">
            <a:off x="379413" y="5718175"/>
            <a:ext cx="820737" cy="698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5" name="Straight Connector 308">
            <a:extLst>
              <a:ext uri="{FF2B5EF4-FFF2-40B4-BE49-F238E27FC236}">
                <a16:creationId xmlns:a16="http://schemas.microsoft.com/office/drawing/2014/main" id="{14E54E14-6D2B-5D99-D1ED-3165C4C61394}"/>
              </a:ext>
            </a:extLst>
          </p:cNvPr>
          <p:cNvCxnSpPr>
            <a:cxnSpLocks/>
          </p:cNvCxnSpPr>
          <p:nvPr/>
        </p:nvCxnSpPr>
        <p:spPr bwMode="auto">
          <a:xfrm flipV="1">
            <a:off x="392113" y="5781675"/>
            <a:ext cx="808037" cy="6350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6" name="Straight Connector 309">
            <a:extLst>
              <a:ext uri="{FF2B5EF4-FFF2-40B4-BE49-F238E27FC236}">
                <a16:creationId xmlns:a16="http://schemas.microsoft.com/office/drawing/2014/main" id="{FF9A871C-48C1-9A8E-C52F-1F1CC73D6C96}"/>
              </a:ext>
            </a:extLst>
          </p:cNvPr>
          <p:cNvCxnSpPr>
            <a:cxnSpLocks/>
          </p:cNvCxnSpPr>
          <p:nvPr/>
        </p:nvCxnSpPr>
        <p:spPr bwMode="auto">
          <a:xfrm>
            <a:off x="411163" y="5788025"/>
            <a:ext cx="795337" cy="7302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7" name="Straight Connector 310">
            <a:extLst>
              <a:ext uri="{FF2B5EF4-FFF2-40B4-BE49-F238E27FC236}">
                <a16:creationId xmlns:a16="http://schemas.microsoft.com/office/drawing/2014/main" id="{BE81F5FF-919D-DC14-7D13-2E0473D4EA63}"/>
              </a:ext>
            </a:extLst>
          </p:cNvPr>
          <p:cNvCxnSpPr>
            <a:cxnSpLocks/>
          </p:cNvCxnSpPr>
          <p:nvPr/>
        </p:nvCxnSpPr>
        <p:spPr bwMode="auto">
          <a:xfrm>
            <a:off x="392113" y="5788025"/>
            <a:ext cx="784225" cy="174625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8" name="Straight Connector 311">
            <a:extLst>
              <a:ext uri="{FF2B5EF4-FFF2-40B4-BE49-F238E27FC236}">
                <a16:creationId xmlns:a16="http://schemas.microsoft.com/office/drawing/2014/main" id="{16DD9F66-A1BC-B4F2-C999-A3D108E12F90}"/>
              </a:ext>
            </a:extLst>
          </p:cNvPr>
          <p:cNvCxnSpPr>
            <a:cxnSpLocks/>
          </p:cNvCxnSpPr>
          <p:nvPr/>
        </p:nvCxnSpPr>
        <p:spPr bwMode="auto">
          <a:xfrm>
            <a:off x="381000" y="5781675"/>
            <a:ext cx="758825" cy="303213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9" name="Straight Connector 312">
            <a:extLst>
              <a:ext uri="{FF2B5EF4-FFF2-40B4-BE49-F238E27FC236}">
                <a16:creationId xmlns:a16="http://schemas.microsoft.com/office/drawing/2014/main" id="{E0978C33-5550-093D-4819-3DD6E737A430}"/>
              </a:ext>
            </a:extLst>
          </p:cNvPr>
          <p:cNvCxnSpPr>
            <a:cxnSpLocks/>
          </p:cNvCxnSpPr>
          <p:nvPr/>
        </p:nvCxnSpPr>
        <p:spPr bwMode="auto">
          <a:xfrm>
            <a:off x="392113" y="5781675"/>
            <a:ext cx="731837" cy="395288"/>
          </a:xfrm>
          <a:prstGeom prst="line">
            <a:avLst/>
          </a:prstGeom>
          <a:noFill/>
          <a:ln w="12700" algn="ctr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0" name="Straight Connector 314">
            <a:extLst>
              <a:ext uri="{FF2B5EF4-FFF2-40B4-BE49-F238E27FC236}">
                <a16:creationId xmlns:a16="http://schemas.microsoft.com/office/drawing/2014/main" id="{79675DC2-D1E3-6773-1408-FAB47AF08A1F}"/>
              </a:ext>
            </a:extLst>
          </p:cNvPr>
          <p:cNvCxnSpPr>
            <a:cxnSpLocks/>
          </p:cNvCxnSpPr>
          <p:nvPr/>
        </p:nvCxnSpPr>
        <p:spPr bwMode="auto">
          <a:xfrm flipH="1">
            <a:off x="1168400" y="5468938"/>
            <a:ext cx="128588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1" name="Straight Connector 316">
            <a:extLst>
              <a:ext uri="{FF2B5EF4-FFF2-40B4-BE49-F238E27FC236}">
                <a16:creationId xmlns:a16="http://schemas.microsoft.com/office/drawing/2014/main" id="{BCA5D10A-E890-BC74-645D-8F100E22D645}"/>
              </a:ext>
            </a:extLst>
          </p:cNvPr>
          <p:cNvCxnSpPr>
            <a:cxnSpLocks/>
          </p:cNvCxnSpPr>
          <p:nvPr/>
        </p:nvCxnSpPr>
        <p:spPr bwMode="auto">
          <a:xfrm flipH="1">
            <a:off x="1162050" y="5781675"/>
            <a:ext cx="46038" cy="4921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2" name="Straight Connector 319">
            <a:extLst>
              <a:ext uri="{FF2B5EF4-FFF2-40B4-BE49-F238E27FC236}">
                <a16:creationId xmlns:a16="http://schemas.microsoft.com/office/drawing/2014/main" id="{3659F4AA-BD68-502B-8AB5-C6815C1D962C}"/>
              </a:ext>
            </a:extLst>
          </p:cNvPr>
          <p:cNvCxnSpPr>
            <a:cxnSpLocks/>
          </p:cNvCxnSpPr>
          <p:nvPr/>
        </p:nvCxnSpPr>
        <p:spPr bwMode="auto">
          <a:xfrm flipH="1">
            <a:off x="1193800" y="5284788"/>
            <a:ext cx="106363" cy="84137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3" name="Straight Connector 320">
            <a:extLst>
              <a:ext uri="{FF2B5EF4-FFF2-40B4-BE49-F238E27FC236}">
                <a16:creationId xmlns:a16="http://schemas.microsoft.com/office/drawing/2014/main" id="{16A9CD08-5864-8782-9CDE-1F8522F4E73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127125" y="5643563"/>
            <a:ext cx="63500" cy="20637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4" name="Straight Connector 321">
            <a:extLst>
              <a:ext uri="{FF2B5EF4-FFF2-40B4-BE49-F238E27FC236}">
                <a16:creationId xmlns:a16="http://schemas.microsoft.com/office/drawing/2014/main" id="{BB7ECD9D-2C4D-F17F-8981-330BF703C3FC}"/>
              </a:ext>
            </a:extLst>
          </p:cNvPr>
          <p:cNvCxnSpPr>
            <a:cxnSpLocks/>
          </p:cNvCxnSpPr>
          <p:nvPr/>
        </p:nvCxnSpPr>
        <p:spPr bwMode="auto">
          <a:xfrm flipH="1">
            <a:off x="1193800" y="5778500"/>
            <a:ext cx="47625" cy="80963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5" name="Straight Connector 322">
            <a:extLst>
              <a:ext uri="{FF2B5EF4-FFF2-40B4-BE49-F238E27FC236}">
                <a16:creationId xmlns:a16="http://schemas.microsoft.com/office/drawing/2014/main" id="{9EF887B7-402F-92DE-790F-25E4CA1FDD3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85850" y="5583238"/>
            <a:ext cx="128588" cy="1905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6" name="Straight Connector 323">
            <a:extLst>
              <a:ext uri="{FF2B5EF4-FFF2-40B4-BE49-F238E27FC236}">
                <a16:creationId xmlns:a16="http://schemas.microsoft.com/office/drawing/2014/main" id="{8F925EA6-1C45-981A-95DC-E1FF70684207}"/>
              </a:ext>
            </a:extLst>
          </p:cNvPr>
          <p:cNvCxnSpPr>
            <a:cxnSpLocks/>
          </p:cNvCxnSpPr>
          <p:nvPr/>
        </p:nvCxnSpPr>
        <p:spPr bwMode="auto">
          <a:xfrm flipH="1">
            <a:off x="1143000" y="5360988"/>
            <a:ext cx="47625" cy="6826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7" name="Straight Connector 324">
            <a:extLst>
              <a:ext uri="{FF2B5EF4-FFF2-40B4-BE49-F238E27FC236}">
                <a16:creationId xmlns:a16="http://schemas.microsoft.com/office/drawing/2014/main" id="{EC766F70-3EDA-B3A2-A028-97392279378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152525" y="5830888"/>
            <a:ext cx="65088" cy="7461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8" name="Straight Connector 325">
            <a:extLst>
              <a:ext uri="{FF2B5EF4-FFF2-40B4-BE49-F238E27FC236}">
                <a16:creationId xmlns:a16="http://schemas.microsoft.com/office/drawing/2014/main" id="{DAF9F620-472E-23C0-6329-D9163516204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114425" y="5713413"/>
            <a:ext cx="60325" cy="1746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9" name="Straight Connector 326">
            <a:extLst>
              <a:ext uri="{FF2B5EF4-FFF2-40B4-BE49-F238E27FC236}">
                <a16:creationId xmlns:a16="http://schemas.microsoft.com/office/drawing/2014/main" id="{E9222C54-C41F-C3B0-DF88-B0E13F1F1938}"/>
              </a:ext>
            </a:extLst>
          </p:cNvPr>
          <p:cNvCxnSpPr>
            <a:cxnSpLocks/>
          </p:cNvCxnSpPr>
          <p:nvPr/>
        </p:nvCxnSpPr>
        <p:spPr bwMode="auto">
          <a:xfrm flipH="1">
            <a:off x="1100138" y="5462588"/>
            <a:ext cx="55562" cy="1270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" name="TextBox 216">
            <a:extLst>
              <a:ext uri="{FF2B5EF4-FFF2-40B4-BE49-F238E27FC236}">
                <a16:creationId xmlns:a16="http://schemas.microsoft.com/office/drawing/2014/main" id="{4541AC49-6312-FF47-9716-BBC6089A1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962525"/>
            <a:ext cx="10620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LC-MS/MS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933BEB07-CB7D-7847-80F9-9F1DDA18DFD9}"/>
              </a:ext>
            </a:extLst>
          </p:cNvPr>
          <p:cNvSpPr/>
          <p:nvPr/>
        </p:nvSpPr>
        <p:spPr>
          <a:xfrm>
            <a:off x="1835150" y="5226050"/>
            <a:ext cx="1025525" cy="950913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0" name="Freeform 329">
            <a:extLst>
              <a:ext uri="{FF2B5EF4-FFF2-40B4-BE49-F238E27FC236}">
                <a16:creationId xmlns:a16="http://schemas.microsoft.com/office/drawing/2014/main" id="{7DE480EE-F3EA-C843-A2E8-D47AA30E5EBD}"/>
              </a:ext>
            </a:extLst>
          </p:cNvPr>
          <p:cNvSpPr/>
          <p:nvPr/>
        </p:nvSpPr>
        <p:spPr>
          <a:xfrm>
            <a:off x="1843088" y="5453063"/>
            <a:ext cx="1017587" cy="706437"/>
          </a:xfrm>
          <a:custGeom>
            <a:avLst/>
            <a:gdLst>
              <a:gd name="connsiteX0" fmla="*/ 0 w 1018032"/>
              <a:gd name="connsiteY0" fmla="*/ 682767 h 707151"/>
              <a:gd name="connsiteX1" fmla="*/ 292608 w 1018032"/>
              <a:gd name="connsiteY1" fmla="*/ 566943 h 707151"/>
              <a:gd name="connsiteX2" fmla="*/ 499872 w 1018032"/>
              <a:gd name="connsiteY2" fmla="*/ 15 h 707151"/>
              <a:gd name="connsiteX3" fmla="*/ 682752 w 1018032"/>
              <a:gd name="connsiteY3" fmla="*/ 585231 h 707151"/>
              <a:gd name="connsiteX4" fmla="*/ 1018032 w 1018032"/>
              <a:gd name="connsiteY4" fmla="*/ 707151 h 70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032" h="707151">
                <a:moveTo>
                  <a:pt x="0" y="682767"/>
                </a:moveTo>
                <a:cubicBezTo>
                  <a:pt x="104648" y="681751"/>
                  <a:pt x="209296" y="680735"/>
                  <a:pt x="292608" y="566943"/>
                </a:cubicBezTo>
                <a:cubicBezTo>
                  <a:pt x="375920" y="453151"/>
                  <a:pt x="434848" y="-3033"/>
                  <a:pt x="499872" y="15"/>
                </a:cubicBezTo>
                <a:cubicBezTo>
                  <a:pt x="564896" y="3063"/>
                  <a:pt x="596392" y="467375"/>
                  <a:pt x="682752" y="585231"/>
                </a:cubicBezTo>
                <a:cubicBezTo>
                  <a:pt x="769112" y="703087"/>
                  <a:pt x="893572" y="705119"/>
                  <a:pt x="1018032" y="707151"/>
                </a:cubicBezTo>
              </a:path>
            </a:pathLst>
          </a:custGeom>
          <a:noFill/>
          <a:ln w="57150" cap="flat" cmpd="sng" algn="ctr">
            <a:solidFill>
              <a:srgbClr val="80808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2" name="Freeform 331">
            <a:extLst>
              <a:ext uri="{FF2B5EF4-FFF2-40B4-BE49-F238E27FC236}">
                <a16:creationId xmlns:a16="http://schemas.microsoft.com/office/drawing/2014/main" id="{93ABFBB3-239A-6249-A770-2F61F9282531}"/>
              </a:ext>
            </a:extLst>
          </p:cNvPr>
          <p:cNvSpPr/>
          <p:nvPr/>
        </p:nvSpPr>
        <p:spPr>
          <a:xfrm>
            <a:off x="1843088" y="5997575"/>
            <a:ext cx="1017587" cy="169863"/>
          </a:xfrm>
          <a:custGeom>
            <a:avLst/>
            <a:gdLst>
              <a:gd name="connsiteX0" fmla="*/ 0 w 1018032"/>
              <a:gd name="connsiteY0" fmla="*/ 682767 h 707151"/>
              <a:gd name="connsiteX1" fmla="*/ 292608 w 1018032"/>
              <a:gd name="connsiteY1" fmla="*/ 566943 h 707151"/>
              <a:gd name="connsiteX2" fmla="*/ 499872 w 1018032"/>
              <a:gd name="connsiteY2" fmla="*/ 15 h 707151"/>
              <a:gd name="connsiteX3" fmla="*/ 682752 w 1018032"/>
              <a:gd name="connsiteY3" fmla="*/ 585231 h 707151"/>
              <a:gd name="connsiteX4" fmla="*/ 1018032 w 1018032"/>
              <a:gd name="connsiteY4" fmla="*/ 707151 h 70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032" h="707151">
                <a:moveTo>
                  <a:pt x="0" y="682767"/>
                </a:moveTo>
                <a:cubicBezTo>
                  <a:pt x="104648" y="681751"/>
                  <a:pt x="209296" y="680735"/>
                  <a:pt x="292608" y="566943"/>
                </a:cubicBezTo>
                <a:cubicBezTo>
                  <a:pt x="375920" y="453151"/>
                  <a:pt x="434848" y="-3033"/>
                  <a:pt x="499872" y="15"/>
                </a:cubicBezTo>
                <a:cubicBezTo>
                  <a:pt x="564896" y="3063"/>
                  <a:pt x="596392" y="467375"/>
                  <a:pt x="682752" y="585231"/>
                </a:cubicBezTo>
                <a:cubicBezTo>
                  <a:pt x="769112" y="703087"/>
                  <a:pt x="893572" y="705119"/>
                  <a:pt x="1018032" y="707151"/>
                </a:cubicBezTo>
              </a:path>
            </a:pathLst>
          </a:custGeom>
          <a:noFill/>
          <a:ln w="57150" cap="flat" cmpd="sng" algn="ctr">
            <a:solidFill>
              <a:srgbClr val="DAEDEF">
                <a:lumMod val="75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3" name="TextBox 223">
            <a:extLst>
              <a:ext uri="{FF2B5EF4-FFF2-40B4-BE49-F238E27FC236}">
                <a16:creationId xmlns:a16="http://schemas.microsoft.com/office/drawing/2014/main" id="{825BE0F8-4F9A-8E46-BD3A-991CF994E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64088"/>
            <a:ext cx="1019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peak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integration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C6AEF2B-5F64-EF4B-BF63-31445122EB6B}"/>
              </a:ext>
            </a:extLst>
          </p:cNvPr>
          <p:cNvSpPr/>
          <p:nvPr/>
        </p:nvSpPr>
        <p:spPr>
          <a:xfrm>
            <a:off x="3498850" y="5249863"/>
            <a:ext cx="1027113" cy="950912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35" name="TextBox 225">
            <a:extLst>
              <a:ext uri="{FF2B5EF4-FFF2-40B4-BE49-F238E27FC236}">
                <a16:creationId xmlns:a16="http://schemas.microsoft.com/office/drawing/2014/main" id="{DA16B966-84BA-1F40-9151-1E94A680D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4764088"/>
            <a:ext cx="1030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report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>
                <a:solidFill>
                  <a:srgbClr val="000000"/>
                </a:solidFill>
              </a:rPr>
              <a:t>generation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156D3B6-DC6D-FB4E-9BBD-FA51E2BF18C9}"/>
              </a:ext>
            </a:extLst>
          </p:cNvPr>
          <p:cNvSpPr txBox="1"/>
          <p:nvPr/>
        </p:nvSpPr>
        <p:spPr>
          <a:xfrm>
            <a:off x="3443288" y="5256213"/>
            <a:ext cx="1560512" cy="922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,QQ181101_PrP_Exp20_A5_01,,41.53,y7,483.565007,233556,0.7823,963193,0.7512,486.901097,298568,#N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,QQ181101_PrP_Exp20_B5_01,,41.56,y7,483.565007,252158,0.8931,1094711,0.8828,486.901097,282332,#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,QQ181101_PrP_Exp20_C5_01,,41.25,y7,483.565007,393718,1.4092,1638691,1.4575,486.901097,279391,#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M,QQ181101_PrP_Exp20_D5_01,,41.19,y7,483.565007,444926,1.5045,1819431,1.5097,486.901097,295729,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,QQ181101_PrP_Exp20_E5_01,,41.28,y7,483.565007,530665,2.0541,2248028,2.0334,486.901097,258342,#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,QQ181101_PrP_Exp20_F5_01,,41.2,y7,483.565007,623074,2.2519,2524783,2.154,486.901097,276693,#N/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,QQ181101_PrP_Exp20_G5_01,,41.04,y7,483.565007,1045618,7.4968,4290197,7.0655,486.901097,139475,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,QQ181101_PrP_Exp20_H5_01,,40.99,y7,483.565007,935015,7.1906,3925487,7.0381,486.901097,130033,#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,QQ181101_PrP_Exp20_I5_01,,41.29,y7,483.565007,908838,2.4844,3746531,2.3786,486.901097,365811,#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,QQ181101_PrP_Exp20_J5_01,,41.39,y7,483.565007,889813,2.4676,3627670,2.263,486.901097,360603,#N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M,QQ181101_PrP_Exp20_K5_01,,41.26,y7,483.565007,1753373,5.3297,7423879,5.1702,486.901097,328981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M,QQ181101_PrP_Exp20_L5_01,,41.31,y7,483.565007,1968575,4.9802,8290343,4.6987,486.901097,395281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,QQ181102_PrP_Exp20_M5_01,,41.09,y7,483.565007,344186,1.699,1467030,1.6291,486.901097,202583,#N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,QQ181102_PrP_Exp20_N5_01,,41.37,y7,483.565007,212475,1.6089,918697,1.6427,486.901097,132061,#N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M,QQ181102_PrP_Exp20_O5_01,,41.29,y7,483.565007,1344975,3.3558,5637970,3.3512,486.901097,400793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M,QQ181102_PrP_Exp20_P5_01,,41.24,y7,483.565007,1392438,3.6152,5853268,3.5457,486.901097,385159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,QQ181102_PrP_Exp20_Q5_01,,41.28,y7,483.565007,1298007,3.4814,5367723,3.2503,486.901097,372839,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,QQ181102_PrP_Exp20_R5_01,,41.23,y7,483.565007,1353837,3.1202,5688649,3.1154,486.901097,433892,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,QQ181102_PrP_Exp20_S5_01,,41.19,y7,483.565007,928320,2.6182,3760181,2.4575,486.901097,354562,#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,QQ181102_PrP_Exp20_T5_01,,41.13,y7,483.565007,1160603,2.5507,4871117,2.5846,486.901097,455009,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M,QQ181102_PrP_Exp20_U5_01,,41.35,y7,483.565007,878539,1.645,3634777,1.647,486.901097,534052,#N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,QQ181102_PrP_Exp20_V5_01,,41.31,y7,483.565007,937150,1.6705,3898700,1.6907,486.901097,560984,#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,QQ181102_PrP_Exp20_W5_01,,41.19,y7,483.565007,1140721,2.0413,4710833,1.9868,486.901097,558815,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,QQ181102_PrP_Exp20_X5_01,,41.09,y7,483.565007,998760,2.0437,4174189,2.033,486.901097,488702,#N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,QQ181101_PrP_Exp20_A5_01,,41.53,y4,483.565007,274990,0.7979,963193,0.7512,486.901097,344646,#N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,QQ181101_PrP_Exp20_B5_01,,41.56,y4,483.565007,311187,0.927,1094711,0.8828,486.901097,335681,#N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,QQ181101_PrP_Exp20_C5_01,,41.25,y4,483.565007,476451,1.5654,1638691,1.4575,486.901097,304362,#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M,QQ181101_PrP_Exp20_D5_01,,41.19,y4,483.565007,508061,1.5256,1819431,1.5097,486.901097,333032,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,QQ181101_PrP_Exp20_E5_01,,41.28,y4,483.565007,640163,2.0949,2248028,2.0334,486.901097,305584,#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,QQ181101_PrP_Exp20_F5_01,,41.2,y4,483.565007,730830,2.2576,2524783,2.154,486.901097,323716,#N/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,QQ181101_PrP_Exp20_G5_01,,41.04,y4,483.565007,1217098,7.3168,4290197,7.0655,486.901097,166343,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,QQ181101_PrP_Exp20_H5_01,,40.99,y4,483.565007,1157307,7.594,3925487,7.0381,486.901097,152397,#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,QQ181101_PrP_Exp20_I5_01,,41.29,y4,483.565007,1086715,2.5047,3746531,2.3786,486.901097,433879,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,QQ181101_PrP_Exp20_J5_01,,41.39,y4,483.565007,1050964,2.35,3627670,2.263,486.901097,447213,#N/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M,QQ181101_PrP_Exp20_K5_01,,41.26,y4,483.565007,2148448,5.2434,7423879,5.1702,486.901097,409745</a:t>
            </a:r>
          </a:p>
          <a:p>
            <a:pPr>
              <a:defRPr/>
            </a:pPr>
            <a:r>
              <a:rPr lang="en-US" sz="15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M,QQ181101_PrP_Exp20_L5_01,,41.31,y4,483.565007,2394485,4.5639,8290343,4.6987,486.901097,524661</a:t>
            </a:r>
          </a:p>
        </p:txBody>
      </p:sp>
      <p:cxnSp>
        <p:nvCxnSpPr>
          <p:cNvPr id="15448" name="Straight Connector 337">
            <a:extLst>
              <a:ext uri="{FF2B5EF4-FFF2-40B4-BE49-F238E27FC236}">
                <a16:creationId xmlns:a16="http://schemas.microsoft.com/office/drawing/2014/main" id="{9C9C8AB5-858E-5B55-6C58-84E386ECD3B6}"/>
              </a:ext>
            </a:extLst>
          </p:cNvPr>
          <p:cNvCxnSpPr>
            <a:cxnSpLocks/>
          </p:cNvCxnSpPr>
          <p:nvPr/>
        </p:nvCxnSpPr>
        <p:spPr bwMode="auto">
          <a:xfrm flipH="1">
            <a:off x="282575" y="5721350"/>
            <a:ext cx="128588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49" name="Straight Connector 339">
            <a:extLst>
              <a:ext uri="{FF2B5EF4-FFF2-40B4-BE49-F238E27FC236}">
                <a16:creationId xmlns:a16="http://schemas.microsoft.com/office/drawing/2014/main" id="{3AB9EE25-14A3-2120-CABC-276A73D6FE19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088" y="5807075"/>
            <a:ext cx="46037" cy="49213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0" name="Straight Connector 342">
            <a:extLst>
              <a:ext uri="{FF2B5EF4-FFF2-40B4-BE49-F238E27FC236}">
                <a16:creationId xmlns:a16="http://schemas.microsoft.com/office/drawing/2014/main" id="{C8843643-1114-6C6A-EF70-3B2387EE59A7}"/>
              </a:ext>
            </a:extLst>
          </p:cNvPr>
          <p:cNvCxnSpPr>
            <a:cxnSpLocks/>
          </p:cNvCxnSpPr>
          <p:nvPr/>
        </p:nvCxnSpPr>
        <p:spPr bwMode="auto">
          <a:xfrm flipH="1">
            <a:off x="307975" y="5616575"/>
            <a:ext cx="106363" cy="825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1" name="Straight Connector 343">
            <a:extLst>
              <a:ext uri="{FF2B5EF4-FFF2-40B4-BE49-F238E27FC236}">
                <a16:creationId xmlns:a16="http://schemas.microsoft.com/office/drawing/2014/main" id="{70BE9525-8DCA-4B3C-8695-D8B4451798B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1300" y="5797550"/>
            <a:ext cx="65088" cy="20638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2" name="Straight Connector 344">
            <a:extLst>
              <a:ext uri="{FF2B5EF4-FFF2-40B4-BE49-F238E27FC236}">
                <a16:creationId xmlns:a16="http://schemas.microsoft.com/office/drawing/2014/main" id="{3B486674-5D68-00D4-18C9-997A62CEA6C8}"/>
              </a:ext>
            </a:extLst>
          </p:cNvPr>
          <p:cNvCxnSpPr>
            <a:cxnSpLocks/>
          </p:cNvCxnSpPr>
          <p:nvPr/>
        </p:nvCxnSpPr>
        <p:spPr bwMode="auto">
          <a:xfrm flipH="1">
            <a:off x="350838" y="5805488"/>
            <a:ext cx="47625" cy="79375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3" name="Straight Connector 345">
            <a:extLst>
              <a:ext uri="{FF2B5EF4-FFF2-40B4-BE49-F238E27FC236}">
                <a16:creationId xmlns:a16="http://schemas.microsoft.com/office/drawing/2014/main" id="{16A50089-1E56-7C32-F9CB-3D45580F10F1}"/>
              </a:ext>
            </a:extLst>
          </p:cNvPr>
          <p:cNvCxnSpPr>
            <a:cxnSpLocks/>
          </p:cNvCxnSpPr>
          <p:nvPr/>
        </p:nvCxnSpPr>
        <p:spPr bwMode="auto">
          <a:xfrm flipH="1">
            <a:off x="200025" y="5810250"/>
            <a:ext cx="128588" cy="1905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4" name="Straight Connector 346">
            <a:extLst>
              <a:ext uri="{FF2B5EF4-FFF2-40B4-BE49-F238E27FC236}">
                <a16:creationId xmlns:a16="http://schemas.microsoft.com/office/drawing/2014/main" id="{4C8F0EE9-5871-446C-ADD3-5C26A94BC1FF}"/>
              </a:ext>
            </a:extLst>
          </p:cNvPr>
          <p:cNvCxnSpPr>
            <a:cxnSpLocks/>
          </p:cNvCxnSpPr>
          <p:nvPr/>
        </p:nvCxnSpPr>
        <p:spPr bwMode="auto">
          <a:xfrm flipH="1">
            <a:off x="257175" y="5691188"/>
            <a:ext cx="47625" cy="6826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5" name="Straight Connector 347">
            <a:extLst>
              <a:ext uri="{FF2B5EF4-FFF2-40B4-BE49-F238E27FC236}">
                <a16:creationId xmlns:a16="http://schemas.microsoft.com/office/drawing/2014/main" id="{1322B264-F321-D403-C02E-40441679C42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09563" y="5856288"/>
            <a:ext cx="65087" cy="7461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6" name="Straight Connector 348">
            <a:extLst>
              <a:ext uri="{FF2B5EF4-FFF2-40B4-BE49-F238E27FC236}">
                <a16:creationId xmlns:a16="http://schemas.microsoft.com/office/drawing/2014/main" id="{7E13987C-B8AF-C4EC-6424-EA82CCB61E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28600" y="5843588"/>
            <a:ext cx="60325" cy="1746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7" name="Straight Connector 349">
            <a:extLst>
              <a:ext uri="{FF2B5EF4-FFF2-40B4-BE49-F238E27FC236}">
                <a16:creationId xmlns:a16="http://schemas.microsoft.com/office/drawing/2014/main" id="{A1A358AC-DEC8-EFFB-4F4E-E376E9931202}"/>
              </a:ext>
            </a:extLst>
          </p:cNvPr>
          <p:cNvCxnSpPr>
            <a:cxnSpLocks/>
          </p:cNvCxnSpPr>
          <p:nvPr/>
        </p:nvCxnSpPr>
        <p:spPr bwMode="auto">
          <a:xfrm flipH="1">
            <a:off x="214313" y="5713413"/>
            <a:ext cx="55562" cy="1270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C3A8F56D-C5DD-CC4F-9068-2218EDB47400}"/>
              </a:ext>
            </a:extLst>
          </p:cNvPr>
          <p:cNvSpPr/>
          <p:nvPr/>
        </p:nvSpPr>
        <p:spPr>
          <a:xfrm>
            <a:off x="1397000" y="5637213"/>
            <a:ext cx="377825" cy="180975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DDA3A8A9-4ABC-AC48-8AAF-6904AABCED9A}"/>
              </a:ext>
            </a:extLst>
          </p:cNvPr>
          <p:cNvSpPr/>
          <p:nvPr/>
        </p:nvSpPr>
        <p:spPr>
          <a:xfrm>
            <a:off x="3006725" y="5637213"/>
            <a:ext cx="377825" cy="180975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B75E9D59-24E4-6C4B-929E-8E189357DB5D}"/>
              </a:ext>
            </a:extLst>
          </p:cNvPr>
          <p:cNvSpPr/>
          <p:nvPr/>
        </p:nvSpPr>
        <p:spPr>
          <a:xfrm rot="5400000">
            <a:off x="600075" y="4529138"/>
            <a:ext cx="379413" cy="185737"/>
          </a:xfrm>
          <a:prstGeom prst="rightArrow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CE108A0-D109-5A4E-A8E0-20FFD3A4F582}"/>
              </a:ext>
            </a:extLst>
          </p:cNvPr>
          <p:cNvSpPr/>
          <p:nvPr/>
        </p:nvSpPr>
        <p:spPr>
          <a:xfrm>
            <a:off x="8682038" y="4192588"/>
            <a:ext cx="76200" cy="30797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7B4EB88F-877A-754B-9C9F-23F9E2B9D147}"/>
              </a:ext>
            </a:extLst>
          </p:cNvPr>
          <p:cNvSpPr/>
          <p:nvPr/>
        </p:nvSpPr>
        <p:spPr>
          <a:xfrm rot="5400000">
            <a:off x="4718050" y="466726"/>
            <a:ext cx="66675" cy="800100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5463" name="Straight Connector 355">
            <a:extLst>
              <a:ext uri="{FF2B5EF4-FFF2-40B4-BE49-F238E27FC236}">
                <a16:creationId xmlns:a16="http://schemas.microsoft.com/office/drawing/2014/main" id="{634C0A4A-0627-2FF9-B3D3-35586BAF14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57813" y="5665788"/>
            <a:ext cx="482600" cy="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4" name="Straight Connector 357">
            <a:extLst>
              <a:ext uri="{FF2B5EF4-FFF2-40B4-BE49-F238E27FC236}">
                <a16:creationId xmlns:a16="http://schemas.microsoft.com/office/drawing/2014/main" id="{62AC06D8-AC5D-896B-C372-D5859E641D8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48288" y="5969000"/>
            <a:ext cx="482600" cy="0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65" name="TextBox 358">
            <a:extLst>
              <a:ext uri="{FF2B5EF4-FFF2-40B4-BE49-F238E27FC236}">
                <a16:creationId xmlns:a16="http://schemas.microsoft.com/office/drawing/2014/main" id="{0B3DC37C-8D20-81ED-3A83-AAED8CA42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5468938"/>
            <a:ext cx="2570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7F7F7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endogenous light PrP</a:t>
            </a:r>
          </a:p>
        </p:txBody>
      </p:sp>
      <p:sp>
        <p:nvSpPr>
          <p:cNvPr id="15466" name="TextBox 360">
            <a:extLst>
              <a:ext uri="{FF2B5EF4-FFF2-40B4-BE49-F238E27FC236}">
                <a16:creationId xmlns:a16="http://schemas.microsoft.com/office/drawing/2014/main" id="{6B4DE7F0-B64F-77D9-5EB1-10CAB688A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313" y="5776913"/>
            <a:ext cx="2928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8AC6CD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synthetic heavy peptides</a:t>
            </a:r>
          </a:p>
        </p:txBody>
      </p:sp>
      <p:sp>
        <p:nvSpPr>
          <p:cNvPr id="362" name="TextBox 309">
            <a:extLst>
              <a:ext uri="{FF2B5EF4-FFF2-40B4-BE49-F238E27FC236}">
                <a16:creationId xmlns:a16="http://schemas.microsoft.com/office/drawing/2014/main" id="{D0E4A7BB-CE9D-5F4D-B2BE-2707E509F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132388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800" u="sng" kern="0">
                <a:solidFill>
                  <a:srgbClr val="000000"/>
                </a:solidFill>
              </a:rPr>
              <a:t>legend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3334599-B34C-7E4E-A7E3-7C8BA7CEF296}"/>
              </a:ext>
            </a:extLst>
          </p:cNvPr>
          <p:cNvSpPr/>
          <p:nvPr/>
        </p:nvSpPr>
        <p:spPr>
          <a:xfrm>
            <a:off x="5200650" y="5105400"/>
            <a:ext cx="3551238" cy="110172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kern="0">
              <a:solidFill>
                <a:srgbClr val="FFFFFF"/>
              </a:solidFill>
              <a:latin typeface="Calisto MT"/>
            </a:endParaRPr>
          </a:p>
        </p:txBody>
      </p:sp>
      <p:cxnSp>
        <p:nvCxnSpPr>
          <p:cNvPr id="15469" name="Straight Connector 314">
            <a:extLst>
              <a:ext uri="{FF2B5EF4-FFF2-40B4-BE49-F238E27FC236}">
                <a16:creationId xmlns:a16="http://schemas.microsoft.com/office/drawing/2014/main" id="{8801A9F6-C4F6-80FC-DB87-9D3360D42EF2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8550" y="6167438"/>
            <a:ext cx="128588" cy="19050"/>
          </a:xfrm>
          <a:prstGeom prst="line">
            <a:avLst/>
          </a:prstGeom>
          <a:noFill/>
          <a:ln w="57150" algn="ctr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70" name="Straight Connector 324">
            <a:extLst>
              <a:ext uri="{FF2B5EF4-FFF2-40B4-BE49-F238E27FC236}">
                <a16:creationId xmlns:a16="http://schemas.microsoft.com/office/drawing/2014/main" id="{3FA0ED05-6F57-954F-09AF-D865BB98C4C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152525" y="6021388"/>
            <a:ext cx="65088" cy="74612"/>
          </a:xfrm>
          <a:prstGeom prst="line">
            <a:avLst/>
          </a:prstGeom>
          <a:noFill/>
          <a:ln w="57150" algn="ctr">
            <a:solidFill>
              <a:srgbClr val="8AC6C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13473</TotalTime>
  <Words>1099</Words>
  <Application>Microsoft Macintosh PowerPoint</Application>
  <PresentationFormat>Widescreen</PresentationFormat>
  <Paragraphs>137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Calibri</vt:lpstr>
      <vt:lpstr>Arial</vt:lpstr>
      <vt:lpstr>Calibri Light</vt:lpstr>
      <vt:lpstr>Courier New</vt:lpstr>
      <vt:lpstr>Andale Mono</vt:lpstr>
      <vt:lpstr>Calisto MT</vt:lpstr>
      <vt:lpstr>ＭＳ Ｐゴシック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Minikel</dc:creator>
  <cp:lastModifiedBy>Vallabh/Minikel Lab</cp:lastModifiedBy>
  <cp:revision>30</cp:revision>
  <dcterms:created xsi:type="dcterms:W3CDTF">2019-01-04T16:30:45Z</dcterms:created>
  <dcterms:modified xsi:type="dcterms:W3CDTF">2026-03-24T20:14:33Z</dcterms:modified>
</cp:coreProperties>
</file>